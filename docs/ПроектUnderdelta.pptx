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4" r:id="rId6"/>
    <p:sldId id="261" r:id="rId7"/>
    <p:sldId id="262" r:id="rId8"/>
    <p:sldId id="259" r:id="rId9"/>
    <p:sldId id="277" r:id="rId10"/>
    <p:sldId id="278" r:id="rId11"/>
  </p:sldIdLst>
  <p:sldSz cx="12192000" cy="6858000"/>
  <p:notesSz cx="6858000" cy="9144000"/>
  <p:embeddedFontLst>
    <p:embeddedFont>
      <p:font typeface="Abril Fatface" panose="020B0604020202020204" charset="0"/>
      <p:regular r:id="rId13"/>
    </p:embeddedFont>
    <p:embeddedFont>
      <p:font typeface="Bahnschrift" panose="020B0502040204020203" pitchFamily="34" charset="0"/>
      <p:regular r:id="rId14"/>
      <p:bold r:id="rId15"/>
    </p:embeddedFont>
    <p:embeddedFont>
      <p:font typeface="Barlow Condensed" panose="00000506000000000000" pitchFamily="2" charset="0"/>
      <p:regular r:id="rId16"/>
      <p:bold r:id="rId17"/>
      <p:italic r:id="rId18"/>
      <p:boldItalic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DM Sans" panose="020B0604020202020204" charset="0"/>
      <p:regular r:id="rId24"/>
      <p:bold r:id="rId25"/>
      <p:italic r:id="rId26"/>
      <p:boldItalic r:id="rId27"/>
    </p:embeddedFont>
    <p:embeddedFont>
      <p:font typeface="Sitka Subheading Semibold" pitchFamily="2" charset="0"/>
      <p:bold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0684"/>
    <a:srgbClr val="D864F8"/>
    <a:srgbClr val="3D1F47"/>
    <a:srgbClr val="4F174E"/>
    <a:srgbClr val="061D70"/>
    <a:srgbClr val="B168F4"/>
    <a:srgbClr val="5E306E"/>
    <a:srgbClr val="E2D2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66" y="4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a073618e6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a073618e6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a073618e6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a073618e60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a073618e60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a073618e60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a073618e60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a073618e60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fcd4d2601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fcd4d2601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a073618e60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a073618e60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a073618e60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a073618e60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a073618e6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a073618e6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a073618e60_0_9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4" name="Google Shape;1214;ga073618e60_0_9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1 Title">
  <p:cSld name="CUSTOM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11" name="Google Shape;11;p2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" name="Google Shape;43;p2"/>
          <p:cNvSpPr txBox="1">
            <a:spLocks noGrp="1"/>
          </p:cNvSpPr>
          <p:nvPr>
            <p:ph type="title"/>
          </p:nvPr>
        </p:nvSpPr>
        <p:spPr>
          <a:xfrm>
            <a:off x="415600" y="2574580"/>
            <a:ext cx="11360700" cy="1230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>
            <a:endParaRPr/>
          </a:p>
        </p:txBody>
      </p:sp>
      <p:sp>
        <p:nvSpPr>
          <p:cNvPr id="44" name="Google Shape;44;p2"/>
          <p:cNvSpPr txBox="1">
            <a:spLocks noGrp="1"/>
          </p:cNvSpPr>
          <p:nvPr>
            <p:ph type="subTitle" idx="1"/>
          </p:nvPr>
        </p:nvSpPr>
        <p:spPr>
          <a:xfrm>
            <a:off x="432800" y="5715300"/>
            <a:ext cx="113799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ctr"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ctr"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2 Intro">
  <p:cSld name="CUSTOM_1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4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51" name="Google Shape;51;p4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" name="Google Shape;83;p4"/>
          <p:cNvSpPr txBox="1">
            <a:spLocks noGrp="1"/>
          </p:cNvSpPr>
          <p:nvPr>
            <p:ph type="title"/>
          </p:nvPr>
        </p:nvSpPr>
        <p:spPr>
          <a:xfrm>
            <a:off x="6072725" y="1583975"/>
            <a:ext cx="5322600" cy="132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7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84" name="Google Shape;84;p4"/>
          <p:cNvSpPr txBox="1">
            <a:spLocks noGrp="1"/>
          </p:cNvSpPr>
          <p:nvPr>
            <p:ph type="body" idx="1"/>
          </p:nvPr>
        </p:nvSpPr>
        <p:spPr>
          <a:xfrm>
            <a:off x="6072700" y="2988275"/>
            <a:ext cx="5322600" cy="2235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r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4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3 Talking Points">
  <p:cSld name="CUSTOM_2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5"/>
          <p:cNvGrpSpPr/>
          <p:nvPr/>
        </p:nvGrpSpPr>
        <p:grpSpPr>
          <a:xfrm flipH="1"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88" name="Google Shape;88;p5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0" name="Google Shape;120;p5"/>
          <p:cNvSpPr txBox="1">
            <a:spLocks noGrp="1"/>
          </p:cNvSpPr>
          <p:nvPr>
            <p:ph type="title"/>
          </p:nvPr>
        </p:nvSpPr>
        <p:spPr>
          <a:xfrm>
            <a:off x="720400" y="669575"/>
            <a:ext cx="11055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21" name="Google Shape;121;p5"/>
          <p:cNvSpPr txBox="1">
            <a:spLocks noGrp="1"/>
          </p:cNvSpPr>
          <p:nvPr>
            <p:ph type="body" idx="1"/>
          </p:nvPr>
        </p:nvSpPr>
        <p:spPr>
          <a:xfrm>
            <a:off x="720400" y="2841595"/>
            <a:ext cx="3294600" cy="1322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22" name="Google Shape;122;p5"/>
          <p:cNvSpPr txBox="1">
            <a:spLocks noGrp="1"/>
          </p:cNvSpPr>
          <p:nvPr>
            <p:ph type="body" idx="2"/>
          </p:nvPr>
        </p:nvSpPr>
        <p:spPr>
          <a:xfrm>
            <a:off x="4678325" y="2841595"/>
            <a:ext cx="3294600" cy="1322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p5"/>
          <p:cNvSpPr txBox="1">
            <a:spLocks noGrp="1"/>
          </p:cNvSpPr>
          <p:nvPr>
            <p:ph type="body" idx="3"/>
          </p:nvPr>
        </p:nvSpPr>
        <p:spPr>
          <a:xfrm>
            <a:off x="720400" y="4882654"/>
            <a:ext cx="3294600" cy="1322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24" name="Google Shape;124;p5"/>
          <p:cNvSpPr txBox="1">
            <a:spLocks noGrp="1"/>
          </p:cNvSpPr>
          <p:nvPr>
            <p:ph type="body" idx="4"/>
          </p:nvPr>
        </p:nvSpPr>
        <p:spPr>
          <a:xfrm>
            <a:off x="4678325" y="4882654"/>
            <a:ext cx="3294600" cy="1322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rtl="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rtl="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rtl="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rtl="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25" name="Google Shape;125;p5"/>
          <p:cNvSpPr txBox="1">
            <a:spLocks noGrp="1"/>
          </p:cNvSpPr>
          <p:nvPr>
            <p:ph type="title" idx="5"/>
          </p:nvPr>
        </p:nvSpPr>
        <p:spPr>
          <a:xfrm>
            <a:off x="720400" y="2145825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26" name="Google Shape;126;p5"/>
          <p:cNvSpPr txBox="1">
            <a:spLocks noGrp="1"/>
          </p:cNvSpPr>
          <p:nvPr>
            <p:ph type="title" idx="6"/>
          </p:nvPr>
        </p:nvSpPr>
        <p:spPr>
          <a:xfrm>
            <a:off x="4678325" y="2145825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27" name="Google Shape;127;p5"/>
          <p:cNvSpPr txBox="1">
            <a:spLocks noGrp="1"/>
          </p:cNvSpPr>
          <p:nvPr>
            <p:ph type="title" idx="7"/>
          </p:nvPr>
        </p:nvSpPr>
        <p:spPr>
          <a:xfrm>
            <a:off x="720400" y="4186884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28" name="Google Shape;128;p5"/>
          <p:cNvSpPr txBox="1">
            <a:spLocks noGrp="1"/>
          </p:cNvSpPr>
          <p:nvPr>
            <p:ph type="title" idx="8"/>
          </p:nvPr>
        </p:nvSpPr>
        <p:spPr>
          <a:xfrm>
            <a:off x="4678325" y="4186884"/>
            <a:ext cx="3294600" cy="695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29" name="Google Shape;129;p5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4 Section Title">
  <p:cSld name="CUSTOM_3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>
            <a:spLocks noGrp="1"/>
          </p:cNvSpPr>
          <p:nvPr>
            <p:ph type="body" idx="1"/>
          </p:nvPr>
        </p:nvSpPr>
        <p:spPr>
          <a:xfrm>
            <a:off x="4386975" y="2965625"/>
            <a:ext cx="7389300" cy="2075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32" name="Google Shape;132;p6"/>
          <p:cNvSpPr txBox="1">
            <a:spLocks noGrp="1"/>
          </p:cNvSpPr>
          <p:nvPr>
            <p:ph type="title"/>
          </p:nvPr>
        </p:nvSpPr>
        <p:spPr>
          <a:xfrm>
            <a:off x="4386975" y="2041175"/>
            <a:ext cx="73893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grpSp>
        <p:nvGrpSpPr>
          <p:cNvPr id="133" name="Google Shape;133;p6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134" name="Google Shape;134;p6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6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6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6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6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6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6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6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6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6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6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6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6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6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6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6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6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6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6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6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p6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6 Two columns">
  <p:cSld name="CUSTOM_4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7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169" name="Google Shape;169;p7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7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7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7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7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7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7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7"/>
          <p:cNvSpPr txBox="1">
            <a:spLocks noGrp="1"/>
          </p:cNvSpPr>
          <p:nvPr>
            <p:ph type="subTitle" idx="1"/>
          </p:nvPr>
        </p:nvSpPr>
        <p:spPr>
          <a:xfrm>
            <a:off x="873360" y="1813775"/>
            <a:ext cx="49611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202" name="Google Shape;202;p7"/>
          <p:cNvSpPr txBox="1">
            <a:spLocks noGrp="1"/>
          </p:cNvSpPr>
          <p:nvPr>
            <p:ph type="subTitle" idx="2"/>
          </p:nvPr>
        </p:nvSpPr>
        <p:spPr>
          <a:xfrm>
            <a:off x="6464155" y="1813775"/>
            <a:ext cx="49608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203" name="Google Shape;203;p7"/>
          <p:cNvSpPr txBox="1">
            <a:spLocks noGrp="1"/>
          </p:cNvSpPr>
          <p:nvPr>
            <p:ph type="title"/>
          </p:nvPr>
        </p:nvSpPr>
        <p:spPr>
          <a:xfrm>
            <a:off x="873350" y="836300"/>
            <a:ext cx="10551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204" name="Google Shape;204;p7"/>
          <p:cNvSpPr txBox="1">
            <a:spLocks noGrp="1"/>
          </p:cNvSpPr>
          <p:nvPr>
            <p:ph type="body" idx="3"/>
          </p:nvPr>
        </p:nvSpPr>
        <p:spPr>
          <a:xfrm>
            <a:off x="873350" y="2750800"/>
            <a:ext cx="4960800" cy="3118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05" name="Google Shape;205;p7"/>
          <p:cNvSpPr txBox="1">
            <a:spLocks noGrp="1"/>
          </p:cNvSpPr>
          <p:nvPr>
            <p:ph type="body" idx="4"/>
          </p:nvPr>
        </p:nvSpPr>
        <p:spPr>
          <a:xfrm>
            <a:off x="6464146" y="2739050"/>
            <a:ext cx="4961100" cy="3118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06" name="Google Shape;206;p7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5 One column">
  <p:cSld name="CUSTOM_5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8"/>
          <p:cNvGrpSpPr/>
          <p:nvPr/>
        </p:nvGrpSpPr>
        <p:grpSpPr>
          <a:xfrm flipH="1"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209" name="Google Shape;209;p8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8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8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8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8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8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8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8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8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8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8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8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8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8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8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8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8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8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8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8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8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8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8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p8"/>
          <p:cNvSpPr txBox="1">
            <a:spLocks noGrp="1"/>
          </p:cNvSpPr>
          <p:nvPr>
            <p:ph type="subTitle" idx="1"/>
          </p:nvPr>
        </p:nvSpPr>
        <p:spPr>
          <a:xfrm>
            <a:off x="2474965" y="2530200"/>
            <a:ext cx="72915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242" name="Google Shape;242;p8"/>
          <p:cNvSpPr txBox="1">
            <a:spLocks noGrp="1"/>
          </p:cNvSpPr>
          <p:nvPr>
            <p:ph type="title"/>
          </p:nvPr>
        </p:nvSpPr>
        <p:spPr>
          <a:xfrm>
            <a:off x="2425525" y="1099400"/>
            <a:ext cx="72915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243" name="Google Shape;243;p8"/>
          <p:cNvSpPr txBox="1">
            <a:spLocks noGrp="1"/>
          </p:cNvSpPr>
          <p:nvPr>
            <p:ph type="body" idx="2"/>
          </p:nvPr>
        </p:nvSpPr>
        <p:spPr>
          <a:xfrm>
            <a:off x="2474975" y="3190375"/>
            <a:ext cx="7291500" cy="2646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44" name="Google Shape;244;p8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7 Quote">
  <p:cSld name="CUSTOM_6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9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247" name="Google Shape;247;p9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9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9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9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9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9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9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9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9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9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9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9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9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9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9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9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9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9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9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9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9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9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9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9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9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9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9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9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9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9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9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9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p9"/>
          <p:cNvSpPr txBox="1">
            <a:spLocks noGrp="1"/>
          </p:cNvSpPr>
          <p:nvPr>
            <p:ph type="title"/>
          </p:nvPr>
        </p:nvSpPr>
        <p:spPr>
          <a:xfrm>
            <a:off x="558100" y="1873525"/>
            <a:ext cx="11095500" cy="3160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280" name="Google Shape;280;p9"/>
          <p:cNvSpPr txBox="1">
            <a:spLocks noGrp="1"/>
          </p:cNvSpPr>
          <p:nvPr>
            <p:ph type="subTitle" idx="1"/>
          </p:nvPr>
        </p:nvSpPr>
        <p:spPr>
          <a:xfrm>
            <a:off x="632875" y="5919475"/>
            <a:ext cx="11379900" cy="717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9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8 Three columns">
  <p:cSld name="CUSTOM_8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11"/>
          <p:cNvGrpSpPr/>
          <p:nvPr/>
        </p:nvGrpSpPr>
        <p:grpSpPr>
          <a:xfrm flipH="1">
            <a:off x="21700" y="2918637"/>
            <a:ext cx="12245912" cy="3938882"/>
            <a:chOff x="4435" y="7748593"/>
            <a:chExt cx="12182563" cy="5161009"/>
          </a:xfrm>
        </p:grpSpPr>
        <p:sp>
          <p:nvSpPr>
            <p:cNvPr id="320" name="Google Shape;320;p11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11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11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11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11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1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11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11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11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1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11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11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11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1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11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1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11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11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1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1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1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1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1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11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1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11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1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11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11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11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1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1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2" name="Google Shape;352;p11"/>
          <p:cNvSpPr txBox="1">
            <a:spLocks noGrp="1"/>
          </p:cNvSpPr>
          <p:nvPr>
            <p:ph type="subTitle" idx="1"/>
          </p:nvPr>
        </p:nvSpPr>
        <p:spPr>
          <a:xfrm>
            <a:off x="565634" y="1729975"/>
            <a:ext cx="108975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353" name="Google Shape;353;p11"/>
          <p:cNvSpPr txBox="1">
            <a:spLocks noGrp="1"/>
          </p:cNvSpPr>
          <p:nvPr>
            <p:ph type="subTitle" idx="2"/>
          </p:nvPr>
        </p:nvSpPr>
        <p:spPr>
          <a:xfrm>
            <a:off x="564884" y="3334868"/>
            <a:ext cx="108975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354" name="Google Shape;354;p11"/>
          <p:cNvSpPr txBox="1">
            <a:spLocks noGrp="1"/>
          </p:cNvSpPr>
          <p:nvPr>
            <p:ph type="subTitle" idx="3"/>
          </p:nvPr>
        </p:nvSpPr>
        <p:spPr>
          <a:xfrm>
            <a:off x="564884" y="4939762"/>
            <a:ext cx="10897500" cy="60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355" name="Google Shape;355;p1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356" name="Google Shape;356;p11"/>
          <p:cNvSpPr txBox="1">
            <a:spLocks noGrp="1"/>
          </p:cNvSpPr>
          <p:nvPr>
            <p:ph type="body" idx="4"/>
          </p:nvPr>
        </p:nvSpPr>
        <p:spPr>
          <a:xfrm>
            <a:off x="565625" y="2167925"/>
            <a:ext cx="10897500" cy="92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57" name="Google Shape;357;p11"/>
          <p:cNvSpPr txBox="1">
            <a:spLocks noGrp="1"/>
          </p:cNvSpPr>
          <p:nvPr>
            <p:ph type="body" idx="5"/>
          </p:nvPr>
        </p:nvSpPr>
        <p:spPr>
          <a:xfrm>
            <a:off x="564875" y="3761388"/>
            <a:ext cx="108975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58" name="Google Shape;358;p11"/>
          <p:cNvSpPr txBox="1">
            <a:spLocks noGrp="1"/>
          </p:cNvSpPr>
          <p:nvPr>
            <p:ph type="body" idx="6"/>
          </p:nvPr>
        </p:nvSpPr>
        <p:spPr>
          <a:xfrm>
            <a:off x="564875" y="5353050"/>
            <a:ext cx="10899000" cy="923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21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21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21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2100"/>
              </a:spcBef>
              <a:spcAft>
                <a:spcPts val="21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59" name="Google Shape;359;p11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1 Credits">
  <p:cSld name="CUSTOM_16_1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698631" scaled="0"/>
        </a:gradFill>
        <a:effectLst/>
      </p:bgPr>
    </p:bg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9"/>
          <p:cNvSpPr txBox="1">
            <a:spLocks noGrp="1"/>
          </p:cNvSpPr>
          <p:nvPr>
            <p:ph type="title"/>
          </p:nvPr>
        </p:nvSpPr>
        <p:spPr>
          <a:xfrm>
            <a:off x="858975" y="1150325"/>
            <a:ext cx="103560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654" name="Google Shape;654;p19"/>
          <p:cNvSpPr txBox="1">
            <a:spLocks noGrp="1"/>
          </p:cNvSpPr>
          <p:nvPr>
            <p:ph type="body" idx="1"/>
          </p:nvPr>
        </p:nvSpPr>
        <p:spPr>
          <a:xfrm>
            <a:off x="859161" y="2150975"/>
            <a:ext cx="10356000" cy="310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1pPr>
            <a:lvl2pPr marL="914400" lvl="1" indent="-349250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2pPr>
            <a:lvl3pPr marL="1371600" lvl="2" indent="-349250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3pPr>
            <a:lvl4pPr marL="1828800" lvl="3" indent="-349250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4pPr>
            <a:lvl5pPr marL="2286000" lvl="4" indent="-349250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5pPr>
            <a:lvl6pPr marL="2743200" lvl="5" indent="-349250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6pPr>
            <a:lvl7pPr marL="3200400" lvl="6" indent="-349250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7pPr>
            <a:lvl8pPr marL="3657600" lvl="7" indent="-349250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8pPr>
            <a:lvl9pPr marL="4114800" lvl="8" indent="-349250" rtl="0"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655" name="Google Shape;655;p19"/>
          <p:cNvGrpSpPr/>
          <p:nvPr/>
        </p:nvGrpSpPr>
        <p:grpSpPr>
          <a:xfrm>
            <a:off x="-130700" y="3234091"/>
            <a:ext cx="12322662" cy="3624061"/>
            <a:chOff x="4435" y="7748593"/>
            <a:chExt cx="12182563" cy="5161009"/>
          </a:xfrm>
        </p:grpSpPr>
        <p:sp>
          <p:nvSpPr>
            <p:cNvPr id="656" name="Google Shape;656;p19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19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19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19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19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19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19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19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19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19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19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19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19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19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19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19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19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19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19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19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19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19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19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19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19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19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19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19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19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19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19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19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8" name="Google Shape;688;p19"/>
          <p:cNvSpPr txBox="1"/>
          <p:nvPr/>
        </p:nvSpPr>
        <p:spPr>
          <a:xfrm rot="5400000">
            <a:off x="-679350" y="619850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2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dk1"/>
            </a:gs>
            <a:gs pos="50000">
              <a:srgbClr val="292929"/>
            </a:gs>
            <a:gs pos="100000">
              <a:srgbClr val="010101"/>
            </a:gs>
          </a:gsLst>
          <a:lin ang="1350003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M Sans"/>
              <a:buNone/>
              <a:defRPr sz="4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○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■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○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■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●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DM Sans"/>
              <a:buChar char="○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DM Sans"/>
              <a:buChar char="■"/>
              <a:defRPr sz="19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65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e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50000">
              <a:srgbClr val="3D1F47"/>
            </a:gs>
            <a:gs pos="100000">
              <a:srgbClr val="010101"/>
            </a:gs>
          </a:gsLst>
          <a:lin ang="13500032" scaled="0"/>
        </a:gradFill>
        <a:effectLst/>
      </p:bgPr>
    </p:bg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B50F126-594D-452E-93E3-FC420203BB7C}"/>
              </a:ext>
            </a:extLst>
          </p:cNvPr>
          <p:cNvSpPr txBox="1"/>
          <p:nvPr/>
        </p:nvSpPr>
        <p:spPr>
          <a:xfrm>
            <a:off x="762682" y="2170787"/>
            <a:ext cx="11126804" cy="14465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ru-RU" sz="4400" b="1" i="0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13500032" scaled="0"/>
                </a:gradFill>
                <a:effectLst/>
                <a:latin typeface="Bahnschrift" panose="020B0502040204020203" pitchFamily="34" charset="0"/>
              </a:rPr>
              <a:t>Информационно-развлекательный сайт</a:t>
            </a:r>
            <a:br>
              <a:rPr lang="ru-RU" sz="4400" b="1" i="0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13500032" scaled="0"/>
                </a:gradFill>
                <a:effectLst/>
                <a:latin typeface="Bahnschrift" panose="020B0502040204020203" pitchFamily="34" charset="0"/>
              </a:rPr>
            </a:br>
            <a:r>
              <a:rPr lang="ru-RU" sz="4400" b="1" i="0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13500032" scaled="0"/>
                </a:gradFill>
                <a:effectLst/>
                <a:latin typeface="Bahnschrift" panose="020B0502040204020203" pitchFamily="34" charset="0"/>
              </a:rPr>
              <a:t>по вселенной Deltarune и Undertale</a:t>
            </a:r>
            <a:endParaRPr lang="ru-RU" sz="4400" dirty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3500032" scaled="0"/>
              </a:gradFill>
              <a:latin typeface="Bahnschrift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A48107-5365-4DB2-830F-FD79263A8221}"/>
              </a:ext>
            </a:extLst>
          </p:cNvPr>
          <p:cNvSpPr txBox="1"/>
          <p:nvPr/>
        </p:nvSpPr>
        <p:spPr>
          <a:xfrm>
            <a:off x="3255625" y="3706967"/>
            <a:ext cx="614091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/>
            <a:r>
              <a:rPr lang="ru-RU" sz="2000" b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13500032" scaled="0"/>
                </a:gradFill>
                <a:cs typeface="Assistant" pitchFamily="2" charset="-79"/>
              </a:rPr>
              <a:t>Разработчики:</a:t>
            </a:r>
            <a:r>
              <a:rPr lang="ru-RU" sz="2000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13500032" scaled="0"/>
                </a:gradFill>
                <a:cs typeface="Assistant" pitchFamily="2" charset="-79"/>
              </a:rPr>
              <a:t> Гришанов Артём, Иванов Вадим, Осетрова Анастасия</a:t>
            </a:r>
            <a:br>
              <a:rPr lang="ru-RU" sz="2000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13500032" scaled="0"/>
                </a:gradFill>
                <a:cs typeface="Assistant" pitchFamily="2" charset="-79"/>
              </a:rPr>
            </a:br>
            <a:r>
              <a:rPr lang="ru-RU" sz="2000" b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13500032" scaled="0"/>
                </a:gradFill>
                <a:cs typeface="Assistant" pitchFamily="2" charset="-79"/>
              </a:rPr>
              <a:t>Преподаватель:</a:t>
            </a:r>
            <a:r>
              <a:rPr lang="ru-RU" sz="2000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13500032" scaled="0"/>
                </a:gradFill>
                <a:cs typeface="Assistant" pitchFamily="2" charset="-79"/>
              </a:rPr>
              <a:t> Панарин Алексей Сергеевич</a:t>
            </a:r>
            <a:br>
              <a:rPr lang="ru-RU" sz="2000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13500032" scaled="0"/>
                </a:gradFill>
                <a:cs typeface="Assistant" pitchFamily="2" charset="-79"/>
              </a:rPr>
            </a:br>
            <a:r>
              <a:rPr lang="ru-RU" sz="2000" b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13500032" scaled="0"/>
                </a:gradFill>
                <a:cs typeface="Assistant" pitchFamily="2" charset="-79"/>
              </a:rPr>
              <a:t>Дата защиты:</a:t>
            </a:r>
            <a:r>
              <a:rPr lang="ru-RU" sz="2000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13500032" scaled="0"/>
                </a:gradFill>
                <a:cs typeface="Assistant" pitchFamily="2" charset="-79"/>
              </a:rPr>
              <a:t> 17.05.2026 г.</a:t>
            </a: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AE713CB2-30E7-4F2B-B0BF-FE11A04AF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6922" y="-125128"/>
            <a:ext cx="1469457" cy="1469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50000">
              <a:srgbClr val="3D1F47"/>
            </a:gs>
            <a:gs pos="100000">
              <a:srgbClr val="010101"/>
            </a:gs>
          </a:gsLst>
          <a:lin ang="13500032" scaled="0"/>
        </a:gradFill>
        <a:effectLst/>
      </p:bgPr>
    </p:bg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7B96FB-E63B-4A7F-BA4B-4EDD8914D4D0}"/>
              </a:ext>
            </a:extLst>
          </p:cNvPr>
          <p:cNvSpPr txBox="1"/>
          <p:nvPr/>
        </p:nvSpPr>
        <p:spPr>
          <a:xfrm>
            <a:off x="4433335" y="117671"/>
            <a:ext cx="61409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i="1" u="sng" dirty="0">
                <a:solidFill>
                  <a:schemeClr val="lt1"/>
                </a:solidFill>
                <a:latin typeface="Sitka Subheading Semibold" pitchFamily="2" charset="0"/>
                <a:cs typeface="Sora" panose="020B0604020202020204" charset="0"/>
              </a:rPr>
              <a:t>Идея проекта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A0D125A-5AA7-4B2E-9543-A5E9A7973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5669" y="1265353"/>
            <a:ext cx="5322600" cy="2235900"/>
          </a:xfrm>
        </p:spPr>
        <p:txBody>
          <a:bodyPr/>
          <a:lstStyle/>
          <a:p>
            <a:pPr algn="l"/>
            <a:r>
              <a:rPr lang="ru-RU" sz="2000" b="1" dirty="0"/>
              <a:t>Идея:</a:t>
            </a:r>
            <a:r>
              <a:rPr lang="ru-RU" sz="2000" dirty="0"/>
              <a:t> создать единую веб-платформу для фанатов</a:t>
            </a:r>
            <a:endParaRPr lang="en-US" sz="2000" dirty="0"/>
          </a:p>
          <a:p>
            <a:pPr algn="l"/>
            <a:endParaRPr lang="en-US" sz="2000" dirty="0"/>
          </a:p>
          <a:p>
            <a:pPr marL="107950" indent="0" algn="l">
              <a:buNone/>
            </a:pPr>
            <a:endParaRPr lang="ru-RU" sz="2000" dirty="0"/>
          </a:p>
          <a:p>
            <a:pPr algn="l"/>
            <a:r>
              <a:rPr lang="ru-RU" sz="2000" dirty="0"/>
              <a:t>Deltarune и Undertale, объединяющую:</a:t>
            </a:r>
          </a:p>
          <a:p>
            <a:pPr marL="107950" indent="0" algn="l">
              <a:buNone/>
            </a:pPr>
            <a:r>
              <a:rPr lang="ru-RU" sz="2000" dirty="0"/>
              <a:t>познавательный контент (викторина, айсберг фактов);</a:t>
            </a:r>
            <a:r>
              <a:rPr lang="en-US" sz="2000" dirty="0"/>
              <a:t> </a:t>
            </a:r>
            <a:r>
              <a:rPr lang="ru-RU" sz="2000" dirty="0"/>
              <a:t>соревновательные игровые механики (битвы с боссами,</a:t>
            </a:r>
            <a:r>
              <a:rPr lang="en-US" sz="2000" dirty="0"/>
              <a:t> </a:t>
            </a:r>
            <a:r>
              <a:rPr lang="ru-RU" sz="2000" dirty="0"/>
              <a:t>бесконечный режим);</a:t>
            </a:r>
            <a:r>
              <a:rPr lang="en-US" sz="2000" dirty="0"/>
              <a:t> </a:t>
            </a:r>
            <a:r>
              <a:rPr lang="ru-RU" sz="2000" dirty="0"/>
              <a:t>рейтинг и достижения;</a:t>
            </a:r>
            <a:r>
              <a:rPr lang="en-US" sz="2000" dirty="0"/>
              <a:t> </a:t>
            </a:r>
            <a:r>
              <a:rPr lang="ru-RU" sz="2000" dirty="0"/>
              <a:t>удобное управление пользователями (регистрация,</a:t>
            </a:r>
            <a:r>
              <a:rPr lang="en-US" sz="2000" dirty="0"/>
              <a:t> </a:t>
            </a:r>
            <a:r>
              <a:rPr lang="ru-RU" sz="2000" dirty="0"/>
              <a:t>профили, администрирование).</a:t>
            </a:r>
            <a:br>
              <a:rPr lang="ru-RU" sz="2000" dirty="0"/>
            </a:br>
            <a:endParaRPr lang="ru-RU" sz="2000" dirty="0"/>
          </a:p>
          <a:p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0DF57C5-CCA4-413C-8B20-C354A7CBE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7995" y="3311420"/>
            <a:ext cx="3892516" cy="3892516"/>
          </a:xfrm>
          <a:prstGeom prst="rect">
            <a:avLst/>
          </a:prstGeom>
        </p:spPr>
      </p:pic>
      <p:pic>
        <p:nvPicPr>
          <p:cNvPr id="9" name="Picture 4" descr="Picture background">
            <a:extLst>
              <a:ext uri="{FF2B5EF4-FFF2-40B4-BE49-F238E27FC236}">
                <a16:creationId xmlns:a16="http://schemas.microsoft.com/office/drawing/2014/main" id="{9E0A2046-CD6C-475D-BC29-B6381DD6A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6922" y="-125128"/>
            <a:ext cx="1469457" cy="1469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5E306E"/>
            </a:gs>
            <a:gs pos="50000">
              <a:schemeClr val="tx1"/>
            </a:gs>
            <a:gs pos="100000">
              <a:srgbClr val="3D1F47"/>
            </a:gs>
          </a:gsLst>
          <a:lin ang="13500032" scaled="0"/>
        </a:gradFill>
        <a:effectLst/>
      </p:bgPr>
    </p:bg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E1BD6ED6-8DA0-4D6A-803B-433C6892E319}"/>
              </a:ext>
            </a:extLst>
          </p:cNvPr>
          <p:cNvSpPr txBox="1"/>
          <p:nvPr/>
        </p:nvSpPr>
        <p:spPr>
          <a:xfrm>
            <a:off x="4227360" y="180846"/>
            <a:ext cx="61388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i="1" u="sng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13500032" scaled="0"/>
                </a:gradFill>
                <a:latin typeface="Sitka Subheading Semibold" pitchFamily="2" charset="0"/>
              </a:rPr>
              <a:t>Цели и задачи</a:t>
            </a:r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09AC58CE-B2D6-41A6-9AFD-BABFC1E8EC7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353144" y="1136082"/>
            <a:ext cx="10119050" cy="1322700"/>
          </a:xfrm>
        </p:spPr>
        <p:txBody>
          <a:bodyPr/>
          <a:lstStyle/>
          <a:p>
            <a:r>
              <a:rPr lang="ru-RU" b="1" dirty="0">
                <a:gradFill>
                  <a:gsLst>
                    <a:gs pos="0">
                      <a:srgbClr val="B168F4"/>
                    </a:gs>
                    <a:gs pos="50000">
                      <a:schemeClr val="bg2"/>
                    </a:gs>
                    <a:gs pos="100000">
                      <a:srgbClr val="E2D2EE"/>
                    </a:gs>
                  </a:gsLst>
                  <a:lin ang="13500032" scaled="0"/>
                </a:gradFill>
                <a:latin typeface="Bahnschrift" panose="020B0502040204020203" pitchFamily="34" charset="0"/>
                <a:cs typeface="Sora" panose="020B0604020202020204" charset="0"/>
              </a:rPr>
              <a:t>Цель:</a:t>
            </a:r>
            <a:r>
              <a:rPr lang="ru-RU" dirty="0">
                <a:gradFill>
                  <a:gsLst>
                    <a:gs pos="0">
                      <a:srgbClr val="B168F4"/>
                    </a:gs>
                    <a:gs pos="50000">
                      <a:schemeClr val="bg2"/>
                    </a:gs>
                    <a:gs pos="100000">
                      <a:srgbClr val="E2D2EE"/>
                    </a:gs>
                  </a:gsLst>
                  <a:lin ang="13500032" scaled="0"/>
                </a:gradFill>
                <a:latin typeface="Bahnschrift" panose="020B0502040204020203" pitchFamily="34" charset="0"/>
                <a:cs typeface="Sora" panose="020B0604020202020204" charset="0"/>
              </a:rPr>
              <a:t> разработать многофункциональный веб-сайт с использованием </a:t>
            </a:r>
            <a:r>
              <a:rPr lang="ru-RU" dirty="0" err="1">
                <a:gradFill>
                  <a:gsLst>
                    <a:gs pos="0">
                      <a:srgbClr val="B168F4"/>
                    </a:gs>
                    <a:gs pos="50000">
                      <a:schemeClr val="bg2"/>
                    </a:gs>
                    <a:gs pos="100000">
                      <a:srgbClr val="E2D2EE"/>
                    </a:gs>
                  </a:gsLst>
                  <a:lin ang="13500032" scaled="0"/>
                </a:gradFill>
                <a:latin typeface="Bahnschrift" panose="020B0502040204020203" pitchFamily="34" charset="0"/>
                <a:cs typeface="Sora" panose="020B0604020202020204" charset="0"/>
              </a:rPr>
              <a:t>Flask</a:t>
            </a:r>
            <a:r>
              <a:rPr lang="ru-RU" dirty="0">
                <a:gradFill>
                  <a:gsLst>
                    <a:gs pos="0">
                      <a:srgbClr val="B168F4"/>
                    </a:gs>
                    <a:gs pos="50000">
                      <a:schemeClr val="bg2"/>
                    </a:gs>
                    <a:gs pos="100000">
                      <a:srgbClr val="E2D2EE"/>
                    </a:gs>
                  </a:gsLst>
                  <a:lin ang="13500032" scaled="0"/>
                </a:gradFill>
                <a:latin typeface="Bahnschrift" panose="020B0502040204020203" pitchFamily="34" charset="0"/>
                <a:cs typeface="Sora" panose="020B0604020202020204" charset="0"/>
              </a:rPr>
              <a:t>, </a:t>
            </a:r>
            <a:r>
              <a:rPr lang="ru-RU" dirty="0" err="1">
                <a:gradFill>
                  <a:gsLst>
                    <a:gs pos="0">
                      <a:srgbClr val="B168F4"/>
                    </a:gs>
                    <a:gs pos="50000">
                      <a:schemeClr val="bg2"/>
                    </a:gs>
                    <a:gs pos="100000">
                      <a:srgbClr val="E2D2EE"/>
                    </a:gs>
                  </a:gsLst>
                  <a:lin ang="13500032" scaled="0"/>
                </a:gradFill>
                <a:latin typeface="Bahnschrift" panose="020B0502040204020203" pitchFamily="34" charset="0"/>
                <a:cs typeface="Sora" panose="020B0604020202020204" charset="0"/>
              </a:rPr>
              <a:t>SQLite</a:t>
            </a:r>
            <a:r>
              <a:rPr lang="ru-RU" dirty="0">
                <a:gradFill>
                  <a:gsLst>
                    <a:gs pos="0">
                      <a:srgbClr val="B168F4"/>
                    </a:gs>
                    <a:gs pos="50000">
                      <a:schemeClr val="bg2"/>
                    </a:gs>
                    <a:gs pos="100000">
                      <a:srgbClr val="E2D2EE"/>
                    </a:gs>
                  </a:gsLst>
                  <a:lin ang="13500032" scaled="0"/>
                </a:gradFill>
                <a:latin typeface="Bahnschrift" panose="020B0502040204020203" pitchFamily="34" charset="0"/>
                <a:cs typeface="Sora" panose="020B0604020202020204" charset="0"/>
              </a:rPr>
              <a:t> и современного </a:t>
            </a:r>
            <a:r>
              <a:rPr lang="ru-RU" dirty="0" err="1">
                <a:gradFill>
                  <a:gsLst>
                    <a:gs pos="0">
                      <a:srgbClr val="B168F4"/>
                    </a:gs>
                    <a:gs pos="50000">
                      <a:schemeClr val="bg2"/>
                    </a:gs>
                    <a:gs pos="100000">
                      <a:srgbClr val="E2D2EE"/>
                    </a:gs>
                  </a:gsLst>
                  <a:lin ang="13500032" scaled="0"/>
                </a:gradFill>
                <a:latin typeface="Bahnschrift" panose="020B0502040204020203" pitchFamily="34" charset="0"/>
                <a:cs typeface="Sora" panose="020B0604020202020204" charset="0"/>
              </a:rPr>
              <a:t>фронтенда</a:t>
            </a:r>
            <a:r>
              <a:rPr lang="ru-RU" dirty="0">
                <a:gradFill>
                  <a:gsLst>
                    <a:gs pos="0">
                      <a:srgbClr val="B168F4"/>
                    </a:gs>
                    <a:gs pos="50000">
                      <a:schemeClr val="bg2"/>
                    </a:gs>
                    <a:gs pos="100000">
                      <a:srgbClr val="E2D2EE"/>
                    </a:gs>
                  </a:gsLst>
                  <a:lin ang="13500032" scaled="0"/>
                </a:gradFill>
                <a:latin typeface="Bahnschrift" panose="020B0502040204020203" pitchFamily="34" charset="0"/>
                <a:cs typeface="Sora" panose="020B0604020202020204" charset="0"/>
              </a:rPr>
              <a:t>.</a:t>
            </a:r>
          </a:p>
          <a:p>
            <a:r>
              <a:rPr lang="ru-RU" b="1" dirty="0">
                <a:gradFill>
                  <a:gsLst>
                    <a:gs pos="0">
                      <a:srgbClr val="B168F4"/>
                    </a:gs>
                    <a:gs pos="50000">
                      <a:schemeClr val="bg2"/>
                    </a:gs>
                    <a:gs pos="100000">
                      <a:srgbClr val="E2D2EE"/>
                    </a:gs>
                  </a:gsLst>
                  <a:lin ang="13500032" scaled="0"/>
                </a:gradFill>
                <a:latin typeface="Bahnschrift" panose="020B0502040204020203" pitchFamily="34" charset="0"/>
                <a:cs typeface="Sora" panose="020B0604020202020204" charset="0"/>
              </a:rPr>
              <a:t>Задачи:</a:t>
            </a:r>
            <a:endParaRPr lang="ru-RU" dirty="0">
              <a:gradFill>
                <a:gsLst>
                  <a:gs pos="0">
                    <a:srgbClr val="B168F4"/>
                  </a:gs>
                  <a:gs pos="50000">
                    <a:schemeClr val="bg2"/>
                  </a:gs>
                  <a:gs pos="100000">
                    <a:srgbClr val="E2D2EE"/>
                  </a:gs>
                </a:gsLst>
                <a:lin ang="13500032" scaled="0"/>
              </a:gradFill>
              <a:latin typeface="Bahnschrift" panose="020B0502040204020203" pitchFamily="34" charset="0"/>
              <a:cs typeface="Sora" panose="020B0604020202020204" charset="0"/>
            </a:endParaRPr>
          </a:p>
          <a:p>
            <a:pPr>
              <a:buFont typeface="+mj-lt"/>
              <a:buAutoNum type="arabicPeriod"/>
            </a:pPr>
            <a:r>
              <a:rPr lang="ru-RU" dirty="0">
                <a:gradFill>
                  <a:gsLst>
                    <a:gs pos="0">
                      <a:srgbClr val="B168F4"/>
                    </a:gs>
                    <a:gs pos="50000">
                      <a:schemeClr val="bg2"/>
                    </a:gs>
                    <a:gs pos="100000">
                      <a:srgbClr val="E2D2EE"/>
                    </a:gs>
                  </a:gsLst>
                  <a:lin ang="13500032" scaled="0"/>
                </a:gradFill>
                <a:latin typeface="Bahnschrift" panose="020B0502040204020203" pitchFamily="34" charset="0"/>
                <a:cs typeface="Sora" panose="020B0604020202020204" charset="0"/>
              </a:rPr>
              <a:t>Реализовать регистрацию, авторизацию и систему статусов (активен / </a:t>
            </a:r>
            <a:r>
              <a:rPr lang="ru-RU" dirty="0" err="1">
                <a:gradFill>
                  <a:gsLst>
                    <a:gs pos="0">
                      <a:srgbClr val="B168F4"/>
                    </a:gs>
                    <a:gs pos="50000">
                      <a:schemeClr val="bg2"/>
                    </a:gs>
                    <a:gs pos="100000">
                      <a:srgbClr val="E2D2EE"/>
                    </a:gs>
                  </a:gsLst>
                  <a:lin ang="13500032" scaled="0"/>
                </a:gradFill>
                <a:latin typeface="Bahnschrift" panose="020B0502040204020203" pitchFamily="34" charset="0"/>
                <a:cs typeface="Sora" panose="020B0604020202020204" charset="0"/>
              </a:rPr>
              <a:t>забанен</a:t>
            </a:r>
            <a:r>
              <a:rPr lang="ru-RU" dirty="0">
                <a:gradFill>
                  <a:gsLst>
                    <a:gs pos="0">
                      <a:srgbClr val="B168F4"/>
                    </a:gs>
                    <a:gs pos="50000">
                      <a:schemeClr val="bg2"/>
                    </a:gs>
                    <a:gs pos="100000">
                      <a:srgbClr val="E2D2EE"/>
                    </a:gs>
                  </a:gsLst>
                  <a:lin ang="13500032" scaled="0"/>
                </a:gradFill>
                <a:latin typeface="Bahnschrift" panose="020B0502040204020203" pitchFamily="34" charset="0"/>
                <a:cs typeface="Sora" panose="020B0604020202020204" charset="0"/>
              </a:rPr>
              <a:t>).</a:t>
            </a:r>
          </a:p>
          <a:p>
            <a:pPr>
              <a:buFont typeface="+mj-lt"/>
              <a:buAutoNum type="arabicPeriod"/>
            </a:pPr>
            <a:r>
              <a:rPr lang="ru-RU" dirty="0">
                <a:gradFill>
                  <a:gsLst>
                    <a:gs pos="0">
                      <a:srgbClr val="B168F4"/>
                    </a:gs>
                    <a:gs pos="50000">
                      <a:schemeClr val="bg2"/>
                    </a:gs>
                    <a:gs pos="100000">
                      <a:srgbClr val="E2D2EE"/>
                    </a:gs>
                  </a:gsLst>
                  <a:lin ang="13500032" scaled="0"/>
                </a:gradFill>
                <a:latin typeface="Bahnschrift" panose="020B0502040204020203" pitchFamily="34" charset="0"/>
                <a:cs typeface="Sora" panose="020B0604020202020204" charset="0"/>
              </a:rPr>
              <a:t>Создать викторину с вопросами по сюжету, персонажам и секретам игр (4 варианта ответа).</a:t>
            </a:r>
          </a:p>
          <a:p>
            <a:pPr>
              <a:buFont typeface="+mj-lt"/>
              <a:buAutoNum type="arabicPeriod"/>
            </a:pPr>
            <a:r>
              <a:rPr lang="ru-RU" dirty="0">
                <a:gradFill>
                  <a:gsLst>
                    <a:gs pos="0">
                      <a:srgbClr val="B168F4"/>
                    </a:gs>
                    <a:gs pos="50000">
                      <a:schemeClr val="bg2"/>
                    </a:gs>
                    <a:gs pos="100000">
                      <a:srgbClr val="E2D2EE"/>
                    </a:gs>
                  </a:gsLst>
                  <a:lin ang="13500032" scaled="0"/>
                </a:gradFill>
                <a:latin typeface="Bahnschrift" panose="020B0502040204020203" pitchFamily="34" charset="0"/>
                <a:cs typeface="Sora" panose="020B0604020202020204" charset="0"/>
              </a:rPr>
              <a:t>Разработать </a:t>
            </a:r>
            <a:r>
              <a:rPr lang="ru-RU" b="1" dirty="0">
                <a:gradFill>
                  <a:gsLst>
                    <a:gs pos="0">
                      <a:srgbClr val="B168F4"/>
                    </a:gs>
                    <a:gs pos="50000">
                      <a:schemeClr val="bg2"/>
                    </a:gs>
                    <a:gs pos="100000">
                      <a:srgbClr val="E2D2EE"/>
                    </a:gs>
                  </a:gsLst>
                  <a:lin ang="13500032" scaled="0"/>
                </a:gradFill>
                <a:latin typeface="Bahnschrift" panose="020B0502040204020203" pitchFamily="34" charset="0"/>
                <a:cs typeface="Sora" panose="020B0604020202020204" charset="0"/>
              </a:rPr>
              <a:t>3 битвы с боссами</a:t>
            </a:r>
            <a:r>
              <a:rPr lang="ru-RU" dirty="0">
                <a:gradFill>
                  <a:gsLst>
                    <a:gs pos="0">
                      <a:srgbClr val="B168F4"/>
                    </a:gs>
                    <a:gs pos="50000">
                      <a:schemeClr val="bg2"/>
                    </a:gs>
                    <a:gs pos="100000">
                      <a:srgbClr val="E2D2EE"/>
                    </a:gs>
                  </a:gsLst>
                  <a:lin ang="13500032" scaled="0"/>
                </a:gradFill>
                <a:latin typeface="Bahnschrift" panose="020B0502040204020203" pitchFamily="34" charset="0"/>
                <a:cs typeface="Sora" panose="020B0604020202020204" charset="0"/>
              </a:rPr>
              <a:t> с разными механиками.</a:t>
            </a:r>
          </a:p>
          <a:p>
            <a:pPr>
              <a:buFont typeface="+mj-lt"/>
              <a:buAutoNum type="arabicPeriod"/>
            </a:pPr>
            <a:r>
              <a:rPr lang="ru-RU" dirty="0">
                <a:gradFill>
                  <a:gsLst>
                    <a:gs pos="0">
                      <a:srgbClr val="B168F4"/>
                    </a:gs>
                    <a:gs pos="50000">
                      <a:schemeClr val="bg2"/>
                    </a:gs>
                    <a:gs pos="100000">
                      <a:srgbClr val="E2D2EE"/>
                    </a:gs>
                  </a:gsLst>
                  <a:lin ang="13500032" scaled="0"/>
                </a:gradFill>
                <a:latin typeface="Bahnschrift" panose="020B0502040204020203" pitchFamily="34" charset="0"/>
                <a:cs typeface="Sora" panose="020B0604020202020204" charset="0"/>
              </a:rPr>
              <a:t>Внедрить </a:t>
            </a:r>
            <a:r>
              <a:rPr lang="ru-RU" b="1" dirty="0">
                <a:gradFill>
                  <a:gsLst>
                    <a:gs pos="0">
                      <a:srgbClr val="B168F4"/>
                    </a:gs>
                    <a:gs pos="50000">
                      <a:schemeClr val="bg2"/>
                    </a:gs>
                    <a:gs pos="100000">
                      <a:srgbClr val="E2D2EE"/>
                    </a:gs>
                  </a:gsLst>
                  <a:lin ang="13500032" scaled="0"/>
                </a:gradFill>
                <a:latin typeface="Bahnschrift" panose="020B0502040204020203" pitchFamily="34" charset="0"/>
                <a:cs typeface="Sora" panose="020B0604020202020204" charset="0"/>
              </a:rPr>
              <a:t>бесконечный режим</a:t>
            </a:r>
            <a:r>
              <a:rPr lang="ru-RU" dirty="0">
                <a:gradFill>
                  <a:gsLst>
                    <a:gs pos="0">
                      <a:srgbClr val="B168F4"/>
                    </a:gs>
                    <a:gs pos="50000">
                      <a:schemeClr val="bg2"/>
                    </a:gs>
                    <a:gs pos="100000">
                      <a:srgbClr val="E2D2EE"/>
                    </a:gs>
                  </a:gsLst>
                  <a:lin ang="13500032" scaled="0"/>
                </a:gradFill>
                <a:latin typeface="Bahnschrift" panose="020B0502040204020203" pitchFamily="34" charset="0"/>
                <a:cs typeface="Sora" panose="020B0604020202020204" charset="0"/>
              </a:rPr>
              <a:t> выживания с фиксацией лучшего времени.</a:t>
            </a:r>
          </a:p>
          <a:p>
            <a:pPr>
              <a:buFont typeface="+mj-lt"/>
              <a:buAutoNum type="arabicPeriod"/>
            </a:pPr>
            <a:r>
              <a:rPr lang="ru-RU" dirty="0">
                <a:gradFill>
                  <a:gsLst>
                    <a:gs pos="0">
                      <a:srgbClr val="B168F4"/>
                    </a:gs>
                    <a:gs pos="50000">
                      <a:schemeClr val="bg2"/>
                    </a:gs>
                    <a:gs pos="100000">
                      <a:srgbClr val="E2D2EE"/>
                    </a:gs>
                  </a:gsLst>
                  <a:lin ang="13500032" scaled="0"/>
                </a:gradFill>
                <a:latin typeface="Bahnschrift" panose="020B0502040204020203" pitchFamily="34" charset="0"/>
                <a:cs typeface="Sora" panose="020B0604020202020204" charset="0"/>
              </a:rPr>
              <a:t>Построить </a:t>
            </a:r>
            <a:r>
              <a:rPr lang="ru-RU" b="1" dirty="0">
                <a:gradFill>
                  <a:gsLst>
                    <a:gs pos="0">
                      <a:srgbClr val="B168F4"/>
                    </a:gs>
                    <a:gs pos="50000">
                      <a:schemeClr val="bg2"/>
                    </a:gs>
                    <a:gs pos="100000">
                      <a:srgbClr val="E2D2EE"/>
                    </a:gs>
                  </a:gsLst>
                  <a:lin ang="13500032" scaled="0"/>
                </a:gradFill>
                <a:latin typeface="Bahnschrift" panose="020B0502040204020203" pitchFamily="34" charset="0"/>
                <a:cs typeface="Sora" panose="020B0604020202020204" charset="0"/>
              </a:rPr>
              <a:t>рейтинг</a:t>
            </a:r>
            <a:r>
              <a:rPr lang="ru-RU" dirty="0">
                <a:gradFill>
                  <a:gsLst>
                    <a:gs pos="0">
                      <a:srgbClr val="B168F4"/>
                    </a:gs>
                    <a:gs pos="50000">
                      <a:schemeClr val="bg2"/>
                    </a:gs>
                    <a:gs pos="100000">
                      <a:srgbClr val="E2D2EE"/>
                    </a:gs>
                  </a:gsLst>
                  <a:lin ang="13500032" scaled="0"/>
                </a:gradFill>
                <a:latin typeface="Bahnschrift" panose="020B0502040204020203" pitchFamily="34" charset="0"/>
                <a:cs typeface="Sora" panose="020B0604020202020204" charset="0"/>
              </a:rPr>
              <a:t> пользователей на основе результатов викторины, битв и бесконечного режима.</a:t>
            </a:r>
          </a:p>
          <a:p>
            <a:pPr>
              <a:buFont typeface="+mj-lt"/>
              <a:buAutoNum type="arabicPeriod"/>
            </a:pPr>
            <a:r>
              <a:rPr lang="ru-RU" dirty="0">
                <a:gradFill>
                  <a:gsLst>
                    <a:gs pos="0">
                      <a:srgbClr val="B168F4"/>
                    </a:gs>
                    <a:gs pos="50000">
                      <a:schemeClr val="bg2"/>
                    </a:gs>
                    <a:gs pos="100000">
                      <a:srgbClr val="E2D2EE"/>
                    </a:gs>
                  </a:gsLst>
                  <a:lin ang="13500032" scaled="0"/>
                </a:gradFill>
                <a:latin typeface="Bahnschrift" panose="020B0502040204020203" pitchFamily="34" charset="0"/>
                <a:cs typeface="Sora" panose="020B0604020202020204" charset="0"/>
              </a:rPr>
              <a:t>Реализовать интерактивный раздел </a:t>
            </a:r>
            <a:r>
              <a:rPr lang="ru-RU" b="1" dirty="0">
                <a:gradFill>
                  <a:gsLst>
                    <a:gs pos="0">
                      <a:srgbClr val="B168F4"/>
                    </a:gs>
                    <a:gs pos="50000">
                      <a:schemeClr val="bg2"/>
                    </a:gs>
                    <a:gs pos="100000">
                      <a:srgbClr val="E2D2EE"/>
                    </a:gs>
                  </a:gsLst>
                  <a:lin ang="13500032" scaled="0"/>
                </a:gradFill>
                <a:latin typeface="Bahnschrift" panose="020B0502040204020203" pitchFamily="34" charset="0"/>
                <a:cs typeface="Sora" panose="020B0604020202020204" charset="0"/>
              </a:rPr>
              <a:t>«Айсберг фактов»</a:t>
            </a:r>
            <a:r>
              <a:rPr lang="ru-RU" dirty="0">
                <a:gradFill>
                  <a:gsLst>
                    <a:gs pos="0">
                      <a:srgbClr val="B168F4"/>
                    </a:gs>
                    <a:gs pos="50000">
                      <a:schemeClr val="bg2"/>
                    </a:gs>
                    <a:gs pos="100000">
                      <a:srgbClr val="E2D2EE"/>
                    </a:gs>
                  </a:gsLst>
                  <a:lin ang="13500032" scaled="0"/>
                </a:gradFill>
                <a:latin typeface="Bahnschrift" panose="020B0502040204020203" pitchFamily="34" charset="0"/>
                <a:cs typeface="Sora" panose="020B0604020202020204" charset="0"/>
              </a:rPr>
              <a:t> (изображение с кнопками, переход на страницы).</a:t>
            </a:r>
          </a:p>
          <a:p>
            <a:pPr>
              <a:buFont typeface="+mj-lt"/>
              <a:buAutoNum type="arabicPeriod"/>
            </a:pPr>
            <a:r>
              <a:rPr lang="ru-RU" dirty="0">
                <a:gradFill>
                  <a:gsLst>
                    <a:gs pos="0">
                      <a:srgbClr val="B168F4"/>
                    </a:gs>
                    <a:gs pos="50000">
                      <a:schemeClr val="bg2"/>
                    </a:gs>
                    <a:gs pos="100000">
                      <a:srgbClr val="E2D2EE"/>
                    </a:gs>
                  </a:gsLst>
                  <a:lin ang="13500032" scaled="0"/>
                </a:gradFill>
                <a:latin typeface="Bahnschrift" panose="020B0502040204020203" pitchFamily="34" charset="0"/>
                <a:cs typeface="Sora" panose="020B0604020202020204" charset="0"/>
              </a:rPr>
              <a:t>Добавить административную панель (блокировка пользователей, управление контентом).</a:t>
            </a:r>
          </a:p>
          <a:p>
            <a:pPr>
              <a:buFont typeface="+mj-lt"/>
              <a:buAutoNum type="arabicPeriod"/>
            </a:pPr>
            <a:r>
              <a:rPr lang="ru-RU" dirty="0">
                <a:gradFill>
                  <a:gsLst>
                    <a:gs pos="0">
                      <a:srgbClr val="B168F4"/>
                    </a:gs>
                    <a:gs pos="50000">
                      <a:schemeClr val="bg2"/>
                    </a:gs>
                    <a:gs pos="100000">
                      <a:srgbClr val="E2D2EE"/>
                    </a:gs>
                  </a:gsLst>
                  <a:lin ang="13500032" scaled="0"/>
                </a:gradFill>
                <a:latin typeface="Bahnschrift" panose="020B0502040204020203" pitchFamily="34" charset="0"/>
                <a:cs typeface="Sora" panose="020B0604020202020204" charset="0"/>
              </a:rPr>
              <a:t>Обеспечить </a:t>
            </a:r>
            <a:r>
              <a:rPr lang="ru-RU" b="1" dirty="0">
                <a:gradFill>
                  <a:gsLst>
                    <a:gs pos="0">
                      <a:srgbClr val="B168F4"/>
                    </a:gs>
                    <a:gs pos="50000">
                      <a:schemeClr val="bg2"/>
                    </a:gs>
                    <a:gs pos="100000">
                      <a:srgbClr val="E2D2EE"/>
                    </a:gs>
                  </a:gsLst>
                  <a:lin ang="13500032" scaled="0"/>
                </a:gradFill>
                <a:latin typeface="Bahnschrift" panose="020B0502040204020203" pitchFamily="34" charset="0"/>
                <a:cs typeface="Sora" panose="020B0604020202020204" charset="0"/>
              </a:rPr>
              <a:t>REST API</a:t>
            </a:r>
            <a:r>
              <a:rPr lang="ru-RU" dirty="0">
                <a:gradFill>
                  <a:gsLst>
                    <a:gs pos="0">
                      <a:srgbClr val="B168F4"/>
                    </a:gs>
                    <a:gs pos="50000">
                      <a:schemeClr val="bg2"/>
                    </a:gs>
                    <a:gs pos="100000">
                      <a:srgbClr val="E2D2EE"/>
                    </a:gs>
                  </a:gsLst>
                  <a:lin ang="13500032" scaled="0"/>
                </a:gradFill>
                <a:latin typeface="Bahnschrift" panose="020B0502040204020203" pitchFamily="34" charset="0"/>
                <a:cs typeface="Sora" panose="020B0604020202020204" charset="0"/>
              </a:rPr>
              <a:t> для выдачи данных в формате JSON.</a:t>
            </a:r>
          </a:p>
          <a:p>
            <a:endParaRPr lang="ru-RU" dirty="0">
              <a:gradFill>
                <a:gsLst>
                  <a:gs pos="0">
                    <a:srgbClr val="B168F4"/>
                  </a:gs>
                  <a:gs pos="50000">
                    <a:schemeClr val="bg2"/>
                  </a:gs>
                  <a:gs pos="100000">
                    <a:srgbClr val="E2D2EE"/>
                  </a:gs>
                </a:gsLst>
                <a:lin ang="13500032" scaled="0"/>
              </a:gradFill>
              <a:latin typeface="Bahnschrift" panose="020B0502040204020203" pitchFamily="34" charset="0"/>
            </a:endParaRPr>
          </a:p>
        </p:txBody>
      </p:sp>
      <p:pic>
        <p:nvPicPr>
          <p:cNvPr id="5" name="Picture 4" descr="Picture background">
            <a:extLst>
              <a:ext uri="{FF2B5EF4-FFF2-40B4-BE49-F238E27FC236}">
                <a16:creationId xmlns:a16="http://schemas.microsoft.com/office/drawing/2014/main" id="{C9544DE1-1747-491A-947D-E8343A398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6922" y="-125128"/>
            <a:ext cx="1469457" cy="1469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50000">
              <a:srgbClr val="5E306E"/>
            </a:gs>
            <a:gs pos="100000">
              <a:srgbClr val="3D1F47"/>
            </a:gs>
          </a:gsLst>
          <a:lin ang="13500032" scaled="0"/>
        </a:gradFill>
        <a:effectLst/>
      </p:bgPr>
    </p:bg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5BEB2B22-86A1-47FF-A132-0B9E0E13A73D}"/>
              </a:ext>
            </a:extLst>
          </p:cNvPr>
          <p:cNvSpPr txBox="1"/>
          <p:nvPr/>
        </p:nvSpPr>
        <p:spPr>
          <a:xfrm>
            <a:off x="171277" y="111278"/>
            <a:ext cx="61408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4000" b="1" i="1" u="sng" dirty="0">
                <a:gradFill>
                  <a:gsLst>
                    <a:gs pos="0">
                      <a:schemeClr val="accent1"/>
                    </a:gs>
                    <a:gs pos="50000">
                      <a:schemeClr val="accent3"/>
                    </a:gs>
                    <a:gs pos="100000">
                      <a:schemeClr val="accent2"/>
                    </a:gs>
                  </a:gsLst>
                  <a:lin ang="13500032" scaled="0"/>
                </a:gradFill>
                <a:latin typeface="Sitka Subheading Semibold" pitchFamily="2" charset="0"/>
              </a:rPr>
              <a:t> Что реализовано: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8472BE-6D0D-44CB-B7AB-578FD30C5F63}"/>
              </a:ext>
            </a:extLst>
          </p:cNvPr>
          <p:cNvSpPr txBox="1"/>
          <p:nvPr/>
        </p:nvSpPr>
        <p:spPr>
          <a:xfrm>
            <a:off x="296405" y="1240715"/>
            <a:ext cx="614091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ru-RU" sz="2000" b="0" i="0" dirty="0">
                <a:solidFill>
                  <a:schemeClr val="bg2"/>
                </a:solidFill>
                <a:effectLst/>
                <a:latin typeface="Bahnschrift" panose="020B0502040204020203" pitchFamily="34" charset="0"/>
              </a:rPr>
              <a:t> Интерфейс в стилистике </a:t>
            </a:r>
            <a:r>
              <a:rPr lang="ru-RU" sz="2000" b="0" i="0" dirty="0" err="1">
                <a:solidFill>
                  <a:schemeClr val="bg2"/>
                </a:solidFill>
                <a:effectLst/>
                <a:latin typeface="Bahnschrift" panose="020B0502040204020203" pitchFamily="34" charset="0"/>
              </a:rPr>
              <a:t>Deltarune</a:t>
            </a:r>
            <a:r>
              <a:rPr lang="ru-RU" sz="2000" b="0" i="0" dirty="0">
                <a:solidFill>
                  <a:schemeClr val="bg2"/>
                </a:solidFill>
                <a:effectLst/>
                <a:latin typeface="Bahnschrift" panose="020B0502040204020203" pitchFamily="34" charset="0"/>
              </a:rPr>
              <a:t>/</a:t>
            </a:r>
            <a:r>
              <a:rPr lang="ru-RU" sz="2000" b="0" i="0" dirty="0" err="1">
                <a:solidFill>
                  <a:schemeClr val="bg2"/>
                </a:solidFill>
                <a:effectLst/>
                <a:latin typeface="Bahnschrift" panose="020B0502040204020203" pitchFamily="34" charset="0"/>
              </a:rPr>
              <a:t>Undertale</a:t>
            </a:r>
            <a:r>
              <a:rPr lang="ru-RU" sz="2000" b="0" i="0" dirty="0">
                <a:solidFill>
                  <a:schemeClr val="bg2"/>
                </a:solidFill>
                <a:effectLst/>
                <a:latin typeface="Bahnschrift" panose="020B0502040204020203" pitchFamily="34" charset="0"/>
              </a:rPr>
              <a:t> с адаптивным дизайном</a:t>
            </a:r>
          </a:p>
          <a:p>
            <a:pPr marL="342900" indent="-342900" algn="l"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ru-RU" sz="2000" b="0" i="0" dirty="0">
                <a:solidFill>
                  <a:schemeClr val="bg2"/>
                </a:solidFill>
                <a:effectLst/>
                <a:latin typeface="Bahnschrift" panose="020B0502040204020203" pitchFamily="34" charset="0"/>
              </a:rPr>
              <a:t> Локализация интерфейса на русский и английский языки</a:t>
            </a:r>
          </a:p>
          <a:p>
            <a:pPr marL="342900" indent="-342900" algn="l"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ru-RU" sz="2000" b="0" i="0" dirty="0">
                <a:solidFill>
                  <a:schemeClr val="bg2"/>
                </a:solidFill>
                <a:effectLst/>
                <a:latin typeface="Bahnschrift" panose="020B0502040204020203" pitchFamily="34" charset="0"/>
              </a:rPr>
              <a:t> Система ролей (гость, пользователь, администратор)</a:t>
            </a:r>
          </a:p>
          <a:p>
            <a:pPr marL="342900" indent="-342900" algn="l"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ru-RU" sz="2000" b="0" i="0" dirty="0">
                <a:solidFill>
                  <a:schemeClr val="bg2"/>
                </a:solidFill>
                <a:effectLst/>
                <a:latin typeface="Bahnschrift" panose="020B0502040204020203" pitchFamily="34" charset="0"/>
              </a:rPr>
              <a:t> Сохранение результатов викторин, битв и бесконечного режима в базе данных</a:t>
            </a:r>
          </a:p>
          <a:p>
            <a:pPr marL="342900" indent="-342900" algn="l"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ru-RU" sz="2000" b="0" i="0" dirty="0">
                <a:solidFill>
                  <a:schemeClr val="bg2"/>
                </a:solidFill>
                <a:effectLst/>
                <a:latin typeface="Bahnschrift" panose="020B0502040204020203" pitchFamily="34" charset="0"/>
              </a:rPr>
              <a:t> REST API для получения рейтинга, фактов и статистики в формате JSON</a:t>
            </a:r>
            <a:br>
              <a:rPr lang="ru-RU" sz="2000" dirty="0">
                <a:solidFill>
                  <a:schemeClr val="bg2"/>
                </a:solidFill>
                <a:latin typeface="Bahnschrift" panose="020B0502040204020203" pitchFamily="34" charset="0"/>
              </a:rPr>
            </a:br>
            <a:endParaRPr lang="ru-RU" sz="2000" dirty="0">
              <a:solidFill>
                <a:schemeClr val="bg2"/>
              </a:solidFill>
              <a:latin typeface="Bahnschrift" panose="020B0502040204020203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75F4592-B058-4B2C-8CDC-5B16327F8A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2099" b="45378"/>
          <a:stretch/>
        </p:blipFill>
        <p:spPr>
          <a:xfrm>
            <a:off x="6312099" y="-424435"/>
            <a:ext cx="791460" cy="962519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334A6C0-F922-41E0-97A1-1AFA6FE8FD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973" t="20362" r="50000" b="43653"/>
          <a:stretch/>
        </p:blipFill>
        <p:spPr>
          <a:xfrm>
            <a:off x="113042" y="4381705"/>
            <a:ext cx="633773" cy="673769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6CC09E7-B415-4FD5-BC1E-48D5C6F767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499" t="17158" r="30453" b="44886"/>
          <a:stretch/>
        </p:blipFill>
        <p:spPr>
          <a:xfrm>
            <a:off x="11522102" y="1589494"/>
            <a:ext cx="669898" cy="716419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B4F33534-4117-45E3-A30C-2FADDD7DD2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567" t="23320" r="9630" b="44146"/>
          <a:stretch/>
        </p:blipFill>
        <p:spPr>
          <a:xfrm>
            <a:off x="5454316" y="2305913"/>
            <a:ext cx="779646" cy="635268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D15CC6C2-433F-41DF-A98E-026D87443F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2896" r="72711"/>
          <a:stretch/>
        </p:blipFill>
        <p:spPr>
          <a:xfrm>
            <a:off x="1049153" y="5452771"/>
            <a:ext cx="895150" cy="959866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64A99844-4114-498F-B0F6-5F03841300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279" t="53882" r="50000"/>
          <a:stretch/>
        </p:blipFill>
        <p:spPr>
          <a:xfrm>
            <a:off x="5223309" y="5035378"/>
            <a:ext cx="689811" cy="953746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4D3714AD-0FF0-4F15-90A2-E0706A0B6A3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724" t="53882" r="31524"/>
          <a:stretch/>
        </p:blipFill>
        <p:spPr>
          <a:xfrm>
            <a:off x="8276393" y="2261982"/>
            <a:ext cx="599977" cy="870266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019B3E73-C593-480B-85F8-3C2F26712A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935" t="55854" r="11746" b="13932"/>
          <a:stretch/>
        </p:blipFill>
        <p:spPr>
          <a:xfrm>
            <a:off x="171277" y="789344"/>
            <a:ext cx="599977" cy="582894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A53AC7E4-2EEA-4E43-8A5A-89965D506F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724" t="53882" r="31524"/>
          <a:stretch/>
        </p:blipFill>
        <p:spPr>
          <a:xfrm>
            <a:off x="8692597" y="354211"/>
            <a:ext cx="599977" cy="870266"/>
          </a:xfrm>
          <a:prstGeom prst="rect">
            <a:avLst/>
          </a:prstGeom>
        </p:spPr>
      </p:pic>
      <p:pic>
        <p:nvPicPr>
          <p:cNvPr id="45" name="Picture 4" descr="Picture background">
            <a:extLst>
              <a:ext uri="{FF2B5EF4-FFF2-40B4-BE49-F238E27FC236}">
                <a16:creationId xmlns:a16="http://schemas.microsoft.com/office/drawing/2014/main" id="{B5FA7614-C83B-4670-822E-617997242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6922" y="-125128"/>
            <a:ext cx="1469457" cy="1469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DBB3D086-FC21-4C96-A7A2-576CC8E9B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7859" y="3161900"/>
            <a:ext cx="5385487" cy="3218330"/>
          </a:xfrm>
          <a:prstGeom prst="rect">
            <a:avLst/>
          </a:prstGeom>
          <a:noFill/>
          <a:effectLst>
            <a:outerShdw blurRad="457200" dist="266700" dir="8460000" sx="96000" sy="96000" algn="ctr" rotWithShape="0">
              <a:srgbClr val="690684">
                <a:alpha val="61000"/>
              </a:srgbClr>
            </a:outerShdw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50000">
              <a:srgbClr val="3D1F47"/>
            </a:gs>
            <a:gs pos="100000">
              <a:srgbClr val="010101"/>
            </a:gs>
          </a:gsLst>
          <a:lin ang="13500032" scaled="0"/>
        </a:gradFill>
        <a:effectLst/>
      </p:bgPr>
    </p:bg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B0E215C-7C4C-452E-83CE-DCEAA05BEC00}"/>
              </a:ext>
            </a:extLst>
          </p:cNvPr>
          <p:cNvSpPr txBox="1"/>
          <p:nvPr/>
        </p:nvSpPr>
        <p:spPr>
          <a:xfrm>
            <a:off x="2895600" y="73008"/>
            <a:ext cx="6400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1" i="1" u="sng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50000">
                      <a:schemeClr val="bg2"/>
                    </a:gs>
                    <a:gs pos="100000">
                      <a:srgbClr val="3D1F47"/>
                    </a:gs>
                  </a:gsLst>
                  <a:lin ang="13500032" scaled="0"/>
                </a:gradFill>
                <a:latin typeface="Sitka Subheading Semibold" pitchFamily="2" charset="0"/>
              </a:rPr>
              <a:t>Игровые механики и викторина:</a:t>
            </a: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9C8FFCD9-0124-4CEE-8341-680CA4B05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329" y="3917870"/>
            <a:ext cx="3501659" cy="2444395"/>
          </a:xfrm>
          <a:prstGeom prst="rect">
            <a:avLst/>
          </a:prstGeom>
          <a:noFill/>
          <a:effectLst>
            <a:outerShdw blurRad="457200" dist="266700" dir="8460000" sx="96000" sy="96000" algn="tr" rotWithShape="0">
              <a:srgbClr val="5E306E">
                <a:alpha val="61000"/>
              </a:srgbClr>
            </a:outerShdw>
            <a:softEdge rad="381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F55981B-47D3-4425-BB32-EB230DA1A205}"/>
              </a:ext>
            </a:extLst>
          </p:cNvPr>
          <p:cNvSpPr txBox="1"/>
          <p:nvPr/>
        </p:nvSpPr>
        <p:spPr>
          <a:xfrm>
            <a:off x="202132" y="1170678"/>
            <a:ext cx="550564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000" b="1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Викторина:</a:t>
            </a:r>
            <a:endParaRPr lang="ru-RU" sz="2000" b="0" i="0" dirty="0">
              <a:solidFill>
                <a:srgbClr val="F9FAFB"/>
              </a:solidFill>
              <a:effectLst/>
              <a:latin typeface="Bahnschrift" panose="020B0502040204020203" pitchFamily="34" charset="0"/>
            </a:endParaRPr>
          </a:p>
          <a:p>
            <a:pPr marL="285750" indent="-285750" algn="l"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Вопросы с 4 вариантами ответа (только один правильный)</a:t>
            </a:r>
          </a:p>
          <a:p>
            <a:pPr marL="285750" indent="-285750" algn="l"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Проверка на сервере, запись результата</a:t>
            </a:r>
          </a:p>
          <a:p>
            <a:pPr marL="285750" indent="-285750" algn="l"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Подсказки и сохранение времени ответа</a:t>
            </a:r>
          </a:p>
          <a:p>
            <a:pPr marL="285750" indent="-285750" algn="l">
              <a:buClr>
                <a:schemeClr val="bg2"/>
              </a:buClr>
              <a:buFont typeface="Wingdings" panose="05000000000000000000" pitchFamily="2" charset="2"/>
              <a:buChar char="§"/>
            </a:pPr>
            <a:endParaRPr lang="ru-RU" sz="2000" b="0" i="0" dirty="0">
              <a:solidFill>
                <a:srgbClr val="F9FAFB"/>
              </a:solidFill>
              <a:effectLst/>
              <a:latin typeface="Bahnschrift" panose="020B0502040204020203" pitchFamily="34" charset="0"/>
            </a:endParaRPr>
          </a:p>
          <a:p>
            <a:pPr algn="l"/>
            <a:r>
              <a:rPr lang="ru-RU" sz="2000" b="1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Битвы с боссами:</a:t>
            </a:r>
            <a:endParaRPr lang="ru-RU" sz="2000" b="0" i="0" dirty="0">
              <a:solidFill>
                <a:srgbClr val="F9FAFB"/>
              </a:solidFill>
              <a:effectLst/>
              <a:latin typeface="Bahnschrift" panose="020B0502040204020203" pitchFamily="34" charset="0"/>
            </a:endParaRPr>
          </a:p>
          <a:p>
            <a:pPr marL="285750" indent="-285750" algn="l"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Три отдельных сценария с разными механиками</a:t>
            </a:r>
          </a:p>
          <a:p>
            <a:pPr marL="285750" indent="-285750" algn="l"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Подсчёт побед, поражений, времени прохождения</a:t>
            </a:r>
          </a:p>
          <a:p>
            <a:pPr marL="285750" indent="-285750" algn="l"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ru-RU" sz="2000" b="1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Бесконечный режим:</a:t>
            </a:r>
            <a:endParaRPr lang="ru-RU" sz="2000" b="0" i="0" dirty="0">
              <a:solidFill>
                <a:srgbClr val="F9FAFB"/>
              </a:solidFill>
              <a:effectLst/>
              <a:latin typeface="Bahnschrift" panose="020B0502040204020203" pitchFamily="34" charset="0"/>
            </a:endParaRPr>
          </a:p>
          <a:p>
            <a:pPr marL="285750" indent="-285750" algn="l"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Режим выживания с нарастающей сложностью</a:t>
            </a:r>
          </a:p>
          <a:p>
            <a:pPr marL="285750" indent="-285750" algn="l"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Фиксация лучшего результата (время, волны, очки)</a:t>
            </a:r>
          </a:p>
        </p:txBody>
      </p:sp>
      <p:pic>
        <p:nvPicPr>
          <p:cNvPr id="19" name="Picture 4" descr="Picture background">
            <a:extLst>
              <a:ext uri="{FF2B5EF4-FFF2-40B4-BE49-F238E27FC236}">
                <a16:creationId xmlns:a16="http://schemas.microsoft.com/office/drawing/2014/main" id="{7C2E5BCE-B54E-4EB8-A26A-34438DCCB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6922" y="-125128"/>
            <a:ext cx="1469457" cy="1469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31371CF6-95B4-45BF-BD2E-06FCF842C40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8724" t="53882" r="31524"/>
          <a:stretch/>
        </p:blipFill>
        <p:spPr>
          <a:xfrm>
            <a:off x="8005340" y="3716147"/>
            <a:ext cx="599977" cy="870266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BCFAAC4F-D87D-43DF-AF11-0B327BF7BF5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5567" t="23320" r="9630" b="44146"/>
          <a:stretch/>
        </p:blipFill>
        <p:spPr>
          <a:xfrm>
            <a:off x="11327331" y="3679057"/>
            <a:ext cx="779646" cy="635268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A3B26002-C55A-4582-9C12-BC24BB6FD4D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9279" t="53882" r="50000"/>
          <a:stretch/>
        </p:blipFill>
        <p:spPr>
          <a:xfrm>
            <a:off x="8063092" y="5952367"/>
            <a:ext cx="689811" cy="953746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2E91DED-1C52-4D5B-88D0-A3F8D55D9D3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2896" r="72711"/>
          <a:stretch/>
        </p:blipFill>
        <p:spPr>
          <a:xfrm>
            <a:off x="11061833" y="5952367"/>
            <a:ext cx="895150" cy="9598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000">
              <a:schemeClr val="dk1"/>
            </a:gs>
            <a:gs pos="50000">
              <a:srgbClr val="3D1F47"/>
            </a:gs>
            <a:gs pos="10000">
              <a:schemeClr val="accent1">
                <a:lumMod val="40000"/>
                <a:lumOff val="60000"/>
              </a:schemeClr>
            </a:gs>
          </a:gsLst>
          <a:lin ang="13500032" scaled="0"/>
        </a:gradFill>
        <a:effectLst/>
      </p:bgPr>
    </p:bg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27"/>
          <p:cNvSpPr/>
          <p:nvPr/>
        </p:nvSpPr>
        <p:spPr>
          <a:xfrm>
            <a:off x="202130" y="4209344"/>
            <a:ext cx="3240508" cy="253295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90" name="Google Shape;790;p27"/>
          <p:cNvSpPr txBox="1">
            <a:spLocks noGrp="1"/>
          </p:cNvSpPr>
          <p:nvPr>
            <p:ph type="title"/>
          </p:nvPr>
        </p:nvSpPr>
        <p:spPr>
          <a:xfrm>
            <a:off x="3044566" y="9625"/>
            <a:ext cx="105519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l"/>
            <a:r>
              <a:rPr lang="ru-RU" sz="4000" b="1" i="1" u="sng" dirty="0">
                <a:gradFill>
                  <a:gsLst>
                    <a:gs pos="100000">
                      <a:srgbClr val="D864F8"/>
                    </a:gs>
                    <a:gs pos="0">
                      <a:srgbClr val="B168F4"/>
                    </a:gs>
                  </a:gsLst>
                  <a:lin ang="13500032" scaled="0"/>
                </a:gradFill>
                <a:effectLst/>
                <a:latin typeface="Sitka Subheading Semibold" pitchFamily="2" charset="0"/>
              </a:rPr>
              <a:t>Дальнейшие планы развития</a:t>
            </a:r>
          </a:p>
        </p:txBody>
      </p:sp>
      <p:pic>
        <p:nvPicPr>
          <p:cNvPr id="9" name="Picture 4" descr="Picture background">
            <a:extLst>
              <a:ext uri="{FF2B5EF4-FFF2-40B4-BE49-F238E27FC236}">
                <a16:creationId xmlns:a16="http://schemas.microsoft.com/office/drawing/2014/main" id="{DEFBB57D-DFB2-4218-B558-ECE3EEEEC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6922" y="-125128"/>
            <a:ext cx="1469457" cy="1469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87797C6-6A24-4490-AFB9-70D5E6854FED}"/>
              </a:ext>
            </a:extLst>
          </p:cNvPr>
          <p:cNvSpPr txBox="1"/>
          <p:nvPr/>
        </p:nvSpPr>
        <p:spPr>
          <a:xfrm>
            <a:off x="4624139" y="1235242"/>
            <a:ext cx="683874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b="1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Контент и функционал:</a:t>
            </a:r>
            <a:endParaRPr lang="ru-RU" sz="2000" b="0" i="0" dirty="0">
              <a:solidFill>
                <a:srgbClr val="F9FAFB"/>
              </a:solidFill>
              <a:effectLst/>
              <a:latin typeface="Bahnschrift" panose="020B0502040204020203" pitchFamily="34" charset="0"/>
            </a:endParaRPr>
          </a:p>
          <a:p>
            <a:pPr marL="342900" indent="-342900" algn="r"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Добавление новых боссов, вопросов и уровней айсберга</a:t>
            </a:r>
          </a:p>
          <a:p>
            <a:pPr marL="342900" indent="-342900" algn="r"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Кастомизация профиля (фоны, значки)</a:t>
            </a:r>
          </a:p>
          <a:p>
            <a:pPr marL="342900" indent="-342900" algn="r"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Режим «ежедневный вызов» (один босс + викторина)</a:t>
            </a:r>
          </a:p>
          <a:p>
            <a:pPr marL="342900" indent="-342900" algn="r"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ru-RU" sz="2000" b="0" i="0" dirty="0">
              <a:solidFill>
                <a:srgbClr val="F9FAFB"/>
              </a:solidFill>
              <a:effectLst/>
              <a:latin typeface="Bahnschrift" panose="020B0502040204020203" pitchFamily="34" charset="0"/>
            </a:endParaRPr>
          </a:p>
          <a:p>
            <a:pPr algn="r"/>
            <a:r>
              <a:rPr lang="ru-RU" sz="2000" b="1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Технические улучшения:</a:t>
            </a:r>
            <a:endParaRPr lang="ru-RU" sz="2000" b="0" i="0" dirty="0">
              <a:solidFill>
                <a:srgbClr val="F9FAFB"/>
              </a:solidFill>
              <a:effectLst/>
              <a:latin typeface="Bahnschrift" panose="020B0502040204020203" pitchFamily="34" charset="0"/>
            </a:endParaRPr>
          </a:p>
          <a:p>
            <a:pPr marL="342900" indent="-342900" algn="r"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Переход на </a:t>
            </a:r>
            <a:r>
              <a:rPr lang="ru-RU" sz="2000" b="0" i="0" dirty="0" err="1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PostgreSQL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для больших нагрузок</a:t>
            </a:r>
          </a:p>
          <a:p>
            <a:pPr marL="342900" indent="-342900" algn="r"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Разделение </a:t>
            </a:r>
            <a:r>
              <a:rPr lang="ru-RU" sz="2000" b="0" i="0" dirty="0" err="1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фронтенда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и бэкенда (</a:t>
            </a:r>
            <a:r>
              <a:rPr lang="ru-RU" sz="2000" b="0" i="0" dirty="0" err="1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React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/</a:t>
            </a:r>
            <a:r>
              <a:rPr lang="ru-RU" sz="2000" b="0" i="0" dirty="0" err="1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Vue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)</a:t>
            </a:r>
          </a:p>
          <a:p>
            <a:pPr marL="342900" indent="-342900" algn="r"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Развёртывание через </a:t>
            </a:r>
            <a:r>
              <a:rPr lang="ru-RU" sz="2000" b="0" i="0" dirty="0" err="1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Docker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и CI/CD</a:t>
            </a:r>
          </a:p>
          <a:p>
            <a:pPr algn="r">
              <a:buFont typeface="Arial" panose="020B0604020202020204" pitchFamily="34" charset="0"/>
              <a:buChar char="•"/>
            </a:pPr>
            <a:endParaRPr lang="ru-RU" sz="2000" b="0" i="0" dirty="0">
              <a:solidFill>
                <a:srgbClr val="F9FAFB"/>
              </a:solidFill>
              <a:effectLst/>
              <a:latin typeface="Bahnschrift" panose="020B0502040204020203" pitchFamily="34" charset="0"/>
            </a:endParaRPr>
          </a:p>
          <a:p>
            <a:pPr algn="r"/>
            <a:r>
              <a:rPr lang="ru-RU" sz="2000" b="1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Атмосфера:</a:t>
            </a:r>
            <a:endParaRPr lang="ru-RU" sz="2000" b="0" i="0" dirty="0">
              <a:solidFill>
                <a:srgbClr val="F9FAFB"/>
              </a:solidFill>
              <a:effectLst/>
              <a:latin typeface="Bahnschrift" panose="020B0502040204020203" pitchFamily="34" charset="0"/>
            </a:endParaRPr>
          </a:p>
          <a:p>
            <a:pPr marL="342900" indent="-342900" algn="r"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Оригинальный саундтрек (MIDI/ремиксы)</a:t>
            </a:r>
          </a:p>
          <a:p>
            <a:pPr marL="342900" indent="-342900" algn="r"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Анимированные переходы и </a:t>
            </a:r>
            <a:r>
              <a:rPr lang="ru-RU" sz="2000" b="0" i="0" dirty="0" err="1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Easter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lang="ru-RU" sz="2000" b="0" i="0" dirty="0" err="1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eggs</a:t>
            </a:r>
            <a:endParaRPr lang="ru-RU" sz="2000" b="0" i="0" dirty="0">
              <a:solidFill>
                <a:srgbClr val="F9FAFB"/>
              </a:solidFill>
              <a:effectLst/>
              <a:latin typeface="Bahnschrift" panose="020B0502040204020203" pitchFamily="34" charset="0"/>
            </a:endParaRPr>
          </a:p>
          <a:p>
            <a:pPr marL="342900" indent="-342900" algn="r">
              <a:buClr>
                <a:schemeClr val="bg2"/>
              </a:buClr>
              <a:buFont typeface="Wingdings" panose="05000000000000000000" pitchFamily="2" charset="2"/>
              <a:buChar char="ü"/>
            </a:pP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Скрытые </a:t>
            </a:r>
            <a:r>
              <a:rPr lang="ru-RU" sz="2000" b="0" i="0" dirty="0" err="1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пасхалки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из вселенных Тоби Фокса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CD49D0EE-BD3D-4D15-839B-0926633D7E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173" r="11173"/>
          <a:stretch>
            <a:fillRect/>
          </a:stretch>
        </p:blipFill>
        <p:spPr>
          <a:xfrm>
            <a:off x="695645" y="4387589"/>
            <a:ext cx="2253478" cy="2176459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889000" h="114300" prst="relaxedInset"/>
            <a:contourClr>
              <a:srgbClr val="969696"/>
            </a:contourClr>
          </a:sp3d>
        </p:spPr>
      </p:pic>
      <p:sp>
        <p:nvSpPr>
          <p:cNvPr id="21" name="Google Shape;789;p27">
            <a:extLst>
              <a:ext uri="{FF2B5EF4-FFF2-40B4-BE49-F238E27FC236}">
                <a16:creationId xmlns:a16="http://schemas.microsoft.com/office/drawing/2014/main" id="{7A8401A6-4488-4C01-AEA3-020ACDC2C7F6}"/>
              </a:ext>
            </a:extLst>
          </p:cNvPr>
          <p:cNvSpPr/>
          <p:nvPr/>
        </p:nvSpPr>
        <p:spPr>
          <a:xfrm>
            <a:off x="1448202" y="1069904"/>
            <a:ext cx="3240508" cy="253295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A925F569-C0AA-49F2-B0A1-B222036C565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49" r="21596"/>
          <a:stretch/>
        </p:blipFill>
        <p:spPr>
          <a:xfrm>
            <a:off x="1942826" y="1252541"/>
            <a:ext cx="2253478" cy="217645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889000" h="114300" prst="relaxedInset"/>
            <a:contourClr>
              <a:srgbClr val="969696"/>
            </a:contourClr>
          </a:sp3d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72CA050E-5F1A-4BBC-94B7-9D750C78BC0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8724" t="53882" r="31524"/>
          <a:stretch/>
        </p:blipFill>
        <p:spPr>
          <a:xfrm>
            <a:off x="4324150" y="4125827"/>
            <a:ext cx="599977" cy="870266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8CA4F3B-0754-46FB-B708-1A6EC984A32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8724" t="53882" r="31524"/>
          <a:stretch/>
        </p:blipFill>
        <p:spPr>
          <a:xfrm>
            <a:off x="556632" y="474063"/>
            <a:ext cx="599977" cy="870266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0B4F68F-431E-43F7-ADF1-D6B40C765E7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8724" t="53882" r="31524"/>
          <a:stretch/>
        </p:blipFill>
        <p:spPr>
          <a:xfrm>
            <a:off x="11231588" y="5816867"/>
            <a:ext cx="599977" cy="870266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81BAEA1F-A4DC-48FD-B390-1468B6C7EA4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8724" t="53882" r="31524"/>
          <a:stretch/>
        </p:blipFill>
        <p:spPr>
          <a:xfrm>
            <a:off x="10053027" y="634771"/>
            <a:ext cx="599977" cy="8702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bg1">
                <a:lumMod val="40000"/>
                <a:lumOff val="60000"/>
              </a:schemeClr>
            </a:gs>
            <a:gs pos="50000">
              <a:srgbClr val="3D1F47"/>
            </a:gs>
            <a:gs pos="100000">
              <a:srgbClr val="010101"/>
            </a:gs>
          </a:gsLst>
          <a:lin ang="13500032" scaled="0"/>
        </a:gradFill>
        <a:effectLst/>
      </p:bgPr>
    </p:bg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 descr="Picture background">
            <a:extLst>
              <a:ext uri="{FF2B5EF4-FFF2-40B4-BE49-F238E27FC236}">
                <a16:creationId xmlns:a16="http://schemas.microsoft.com/office/drawing/2014/main" id="{35A1937A-B43C-4C48-8A4A-BEF470FF2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6922" y="-125128"/>
            <a:ext cx="1469457" cy="1469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98EA8B4-7798-4672-8C7D-0A805A8E7DAE}"/>
              </a:ext>
            </a:extLst>
          </p:cNvPr>
          <p:cNvSpPr txBox="1"/>
          <p:nvPr/>
        </p:nvSpPr>
        <p:spPr>
          <a:xfrm>
            <a:off x="120316" y="0"/>
            <a:ext cx="79071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4000" b="1" i="1" u="sng" dirty="0">
                <a:gradFill>
                  <a:gsLst>
                    <a:gs pos="1000">
                      <a:schemeClr val="accent1"/>
                    </a:gs>
                    <a:gs pos="100000">
                      <a:schemeClr val="accent2"/>
                    </a:gs>
                  </a:gsLst>
                  <a:lin ang="13500032" scaled="0"/>
                </a:gradFill>
                <a:effectLst/>
                <a:latin typeface="Sitka Subheading Semibold" pitchFamily="2" charset="0"/>
              </a:rPr>
              <a:t>Использованные технологии: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AEE51C-1632-415C-BB96-9E9CB8191B2A}"/>
              </a:ext>
            </a:extLst>
          </p:cNvPr>
          <p:cNvSpPr txBox="1"/>
          <p:nvPr/>
        </p:nvSpPr>
        <p:spPr>
          <a:xfrm>
            <a:off x="303196" y="1074509"/>
            <a:ext cx="620829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000" b="1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Язык программирования:</a:t>
            </a:r>
            <a:endParaRPr lang="ru-RU" sz="2000" b="0" i="0" dirty="0">
              <a:solidFill>
                <a:srgbClr val="F9FAFB"/>
              </a:solidFill>
              <a:effectLst/>
              <a:latin typeface="Bahnschrift" panose="020B0502040204020203" pitchFamily="34" charset="0"/>
            </a:endParaRPr>
          </a:p>
          <a:p>
            <a:pPr marL="285750" indent="-285750" algn="l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Python 3.10+</a:t>
            </a:r>
          </a:p>
          <a:p>
            <a:pPr algn="l"/>
            <a:r>
              <a:rPr lang="ru-RU" sz="2000" b="1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Основные библиотеки и фреймворки:</a:t>
            </a:r>
            <a:endParaRPr lang="ru-RU" sz="2000" b="0" i="0" dirty="0">
              <a:solidFill>
                <a:srgbClr val="F9FAFB"/>
              </a:solidFill>
              <a:effectLst/>
              <a:latin typeface="Bahnschrift" panose="020B0502040204020203" pitchFamily="34" charset="0"/>
            </a:endParaRPr>
          </a:p>
          <a:p>
            <a:pPr marL="285750" indent="-285750" algn="l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Flask</a:t>
            </a:r>
            <a:r>
              <a:rPr lang="en-US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 – 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веб-фреймворк, маршрутизация, шаблоны</a:t>
            </a:r>
          </a:p>
          <a:p>
            <a:pPr marL="285750" indent="-285750" algn="l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Flask-</a:t>
            </a:r>
            <a:r>
              <a:rPr lang="en-US" sz="2000" b="1" i="0" dirty="0" err="1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SQLAlchemy</a:t>
            </a:r>
            <a:r>
              <a:rPr lang="en-US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 – ORM 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для работы с </a:t>
            </a:r>
            <a:r>
              <a:rPr lang="en-US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SQLite</a:t>
            </a:r>
          </a:p>
          <a:p>
            <a:pPr marL="285750" indent="-285750" algn="l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Flask-Login</a:t>
            </a:r>
            <a:r>
              <a:rPr lang="en-US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 – 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управление сессиями и авторизация</a:t>
            </a:r>
          </a:p>
          <a:p>
            <a:pPr marL="285750" indent="-285750" algn="l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2000" b="1" i="0" dirty="0" err="1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Werkzeug</a:t>
            </a:r>
            <a:r>
              <a:rPr lang="en-US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 – 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хэширование паролей</a:t>
            </a:r>
          </a:p>
          <a:p>
            <a:pPr marL="285750" indent="-285750" algn="l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Bootstrap 5</a:t>
            </a:r>
            <a:r>
              <a:rPr lang="en-US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 – 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адаптивный интерфейс</a:t>
            </a:r>
          </a:p>
          <a:p>
            <a:pPr marL="285750" indent="-285750" algn="l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JavaScript (Fetch API)</a:t>
            </a:r>
            <a:r>
              <a:rPr lang="en-US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 – 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асинхронные запросы к </a:t>
            </a:r>
            <a:r>
              <a:rPr lang="en-US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REST API</a:t>
            </a:r>
          </a:p>
          <a:p>
            <a:pPr marL="285750" indent="-285750" algn="l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Git</a:t>
            </a:r>
            <a:r>
              <a:rPr lang="en-US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 – 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контроль версий</a:t>
            </a:r>
          </a:p>
          <a:p>
            <a:pPr algn="l"/>
            <a:r>
              <a:rPr lang="en-US" sz="2000" b="1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REST API</a:t>
            </a:r>
            <a:r>
              <a:rPr lang="en-US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 – 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выдача данных рейтинга, викторин, фактов и статистики в </a:t>
            </a:r>
            <a:r>
              <a:rPr lang="en-US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JSON.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95151D92-FD08-4253-B7D2-FD77A92E53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5" t="50641" r="57173"/>
          <a:stretch/>
        </p:blipFill>
        <p:spPr bwMode="auto">
          <a:xfrm>
            <a:off x="8400231" y="3638350"/>
            <a:ext cx="3488573" cy="2702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50000">
              <a:srgbClr val="3D1F47"/>
            </a:gs>
            <a:gs pos="100000">
              <a:srgbClr val="010101"/>
            </a:gs>
          </a:gsLst>
          <a:lin ang="13500032" scaled="0"/>
        </a:gradFill>
        <a:effectLst/>
      </p:bgPr>
    </p:bg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4" descr="Picture background">
            <a:extLst>
              <a:ext uri="{FF2B5EF4-FFF2-40B4-BE49-F238E27FC236}">
                <a16:creationId xmlns:a16="http://schemas.microsoft.com/office/drawing/2014/main" id="{168CD319-C8E6-44A3-AEEF-6E432630C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6922" y="-125128"/>
            <a:ext cx="1469457" cy="1469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Picture background">
            <a:extLst>
              <a:ext uri="{FF2B5EF4-FFF2-40B4-BE49-F238E27FC236}">
                <a16:creationId xmlns:a16="http://schemas.microsoft.com/office/drawing/2014/main" id="{6E9C8EA5-B81B-40C3-ABE1-6A9907BFD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5991" y="2786422"/>
            <a:ext cx="3246789" cy="3916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18F949-DD56-4330-9420-421727F28775}"/>
              </a:ext>
            </a:extLst>
          </p:cNvPr>
          <p:cNvSpPr txBox="1"/>
          <p:nvPr/>
        </p:nvSpPr>
        <p:spPr>
          <a:xfrm>
            <a:off x="308008" y="154759"/>
            <a:ext cx="91343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4800" b="1" i="1" u="sng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13500032" scaled="0"/>
                </a:gradFill>
                <a:effectLst/>
                <a:latin typeface="Sitka Subheading Semibold" pitchFamily="2" charset="0"/>
              </a:rPr>
              <a:t>Дальнейшие планы развития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4FD72E-ACA3-46A9-9A62-32393891277A}"/>
              </a:ext>
            </a:extLst>
          </p:cNvPr>
          <p:cNvSpPr txBox="1"/>
          <p:nvPr/>
        </p:nvSpPr>
        <p:spPr>
          <a:xfrm>
            <a:off x="404261" y="1089562"/>
            <a:ext cx="620829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lr>
                <a:schemeClr val="bg2"/>
              </a:buClr>
            </a:pPr>
            <a:r>
              <a:rPr lang="ru-RU" sz="2000" b="1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Контент и функционал:</a:t>
            </a:r>
            <a:endParaRPr lang="ru-RU" sz="2000" b="0" i="0" dirty="0">
              <a:solidFill>
                <a:srgbClr val="F9FAFB"/>
              </a:solidFill>
              <a:effectLst/>
              <a:latin typeface="Bahnschrift" panose="020B0502040204020203" pitchFamily="34" charset="0"/>
            </a:endParaRPr>
          </a:p>
          <a:p>
            <a:pPr marL="285750" indent="-285750" algn="l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Добавление новых боссов, вопросов и уровней айсберга</a:t>
            </a:r>
          </a:p>
          <a:p>
            <a:pPr marL="285750" indent="-285750" algn="l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Кастомизация профиля (фоны, значки)</a:t>
            </a:r>
          </a:p>
          <a:p>
            <a:pPr marL="285750" indent="-285750" algn="l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Режим «ежедневный вызов» (один босс + викторина)</a:t>
            </a:r>
          </a:p>
          <a:p>
            <a:pPr marL="285750" indent="-285750" algn="l"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ru-RU" sz="2000" b="0" i="0" dirty="0">
              <a:solidFill>
                <a:srgbClr val="F9FAFB"/>
              </a:solidFill>
              <a:effectLst/>
              <a:latin typeface="Bahnschrift" panose="020B0502040204020203" pitchFamily="34" charset="0"/>
            </a:endParaRPr>
          </a:p>
          <a:p>
            <a:pPr algn="l">
              <a:buClr>
                <a:schemeClr val="bg2"/>
              </a:buClr>
            </a:pPr>
            <a:r>
              <a:rPr lang="ru-RU" sz="2000" b="1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Технические улучшения:</a:t>
            </a:r>
            <a:endParaRPr lang="ru-RU" sz="2000" b="0" i="0" dirty="0">
              <a:solidFill>
                <a:srgbClr val="F9FAFB"/>
              </a:solidFill>
              <a:effectLst/>
              <a:latin typeface="Bahnschrift" panose="020B0502040204020203" pitchFamily="34" charset="0"/>
            </a:endParaRPr>
          </a:p>
          <a:p>
            <a:pPr marL="285750" indent="-285750" algn="l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Переход на </a:t>
            </a:r>
            <a:r>
              <a:rPr lang="ru-RU" sz="2000" b="0" i="0" dirty="0" err="1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PostgreSQL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для больших нагрузок</a:t>
            </a:r>
          </a:p>
          <a:p>
            <a:pPr marL="285750" indent="-285750" algn="l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Разделение </a:t>
            </a:r>
            <a:r>
              <a:rPr lang="ru-RU" sz="2000" b="0" i="0" dirty="0" err="1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фронтенда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и бэкенда (</a:t>
            </a:r>
            <a:r>
              <a:rPr lang="ru-RU" sz="2000" b="0" i="0" dirty="0" err="1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React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/</a:t>
            </a:r>
            <a:r>
              <a:rPr lang="ru-RU" sz="2000" b="0" i="0" dirty="0" err="1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Vue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)</a:t>
            </a:r>
          </a:p>
          <a:p>
            <a:pPr marL="285750" indent="-285750" algn="l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Развёртывание через </a:t>
            </a:r>
            <a:r>
              <a:rPr lang="ru-RU" sz="2000" b="0" i="0" dirty="0" err="1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Docker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и CI/CD</a:t>
            </a:r>
          </a:p>
          <a:p>
            <a:pPr marL="285750" indent="-285750" algn="l"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ru-RU" sz="2000" b="0" i="0" dirty="0">
              <a:solidFill>
                <a:srgbClr val="F9FAFB"/>
              </a:solidFill>
              <a:effectLst/>
              <a:latin typeface="Bahnschrift" panose="020B0502040204020203" pitchFamily="34" charset="0"/>
            </a:endParaRPr>
          </a:p>
          <a:p>
            <a:pPr algn="l">
              <a:buClr>
                <a:schemeClr val="bg2"/>
              </a:buClr>
            </a:pPr>
            <a:r>
              <a:rPr lang="ru-RU" sz="2000" b="1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Атмосфера:</a:t>
            </a:r>
            <a:endParaRPr lang="ru-RU" sz="2000" b="0" i="0" dirty="0">
              <a:solidFill>
                <a:srgbClr val="F9FAFB"/>
              </a:solidFill>
              <a:effectLst/>
              <a:latin typeface="Bahnschrift" panose="020B0502040204020203" pitchFamily="34" charset="0"/>
            </a:endParaRPr>
          </a:p>
          <a:p>
            <a:pPr marL="285750" indent="-285750" algn="l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Оригинальный саундтрек (MIDI/ремиксы)</a:t>
            </a:r>
          </a:p>
          <a:p>
            <a:pPr marL="285750" indent="-285750" algn="l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Анимированные переходы и </a:t>
            </a:r>
            <a:r>
              <a:rPr lang="ru-RU" sz="2000" b="0" i="0" dirty="0" err="1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Easter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lang="ru-RU" sz="2000" b="0" i="0" dirty="0" err="1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eggs</a:t>
            </a:r>
            <a:endParaRPr lang="ru-RU" sz="2000" b="0" i="0" dirty="0">
              <a:solidFill>
                <a:srgbClr val="F9FAFB"/>
              </a:solidFill>
              <a:effectLst/>
              <a:latin typeface="Bahnschrift" panose="020B0502040204020203" pitchFamily="34" charset="0"/>
            </a:endParaRPr>
          </a:p>
          <a:p>
            <a:pPr marL="285750" indent="-285750" algn="l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Скрытые </a:t>
            </a:r>
            <a:r>
              <a:rPr lang="ru-RU" sz="2000" b="0" i="0" dirty="0" err="1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пасхалки</a:t>
            </a:r>
            <a:r>
              <a:rPr lang="ru-RU" sz="2000" b="0" i="0" dirty="0">
                <a:solidFill>
                  <a:srgbClr val="F9FAFB"/>
                </a:solidFill>
                <a:effectLst/>
                <a:latin typeface="Bahnschrift" panose="020B0502040204020203" pitchFamily="34" charset="0"/>
              </a:rPr>
              <a:t> из вселенных Тоби Фокса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698631" scaled="0"/>
        </a:gradFill>
        <a:effectLst/>
      </p:bgPr>
    </p:bg>
    <p:spTree>
      <p:nvGrpSpPr>
        <p:cNvPr id="1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43"/>
          <p:cNvSpPr txBox="1">
            <a:spLocks noGrp="1"/>
          </p:cNvSpPr>
          <p:nvPr>
            <p:ph type="title"/>
          </p:nvPr>
        </p:nvSpPr>
        <p:spPr>
          <a:xfrm>
            <a:off x="69703" y="-134753"/>
            <a:ext cx="10356000" cy="7635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l"/>
            <a:r>
              <a:rPr lang="ru-RU" sz="4000" b="1" dirty="0">
                <a:gradFill>
                  <a:gsLst>
                    <a:gs pos="0">
                      <a:schemeClr val="tx2">
                        <a:lumMod val="10000"/>
                      </a:schemeClr>
                    </a:gs>
                    <a:gs pos="47500">
                      <a:srgbClr val="690684"/>
                    </a:gs>
                    <a:gs pos="100000">
                      <a:srgbClr val="3D1F47"/>
                    </a:gs>
                  </a:gsLst>
                  <a:lin ang="2698631" scaled="0"/>
                </a:gradFill>
                <a:effectLst/>
                <a:latin typeface="Sitka Subheading Semibold" pitchFamily="2" charset="0"/>
              </a:rPr>
              <a:t>Система ролей и безопасность</a:t>
            </a:r>
          </a:p>
        </p:txBody>
      </p:sp>
      <p:pic>
        <p:nvPicPr>
          <p:cNvPr id="5" name="Picture 4" descr="Picture background">
            <a:extLst>
              <a:ext uri="{FF2B5EF4-FFF2-40B4-BE49-F238E27FC236}">
                <a16:creationId xmlns:a16="http://schemas.microsoft.com/office/drawing/2014/main" id="{B469FB17-1385-40F5-8BAD-B706853A74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6922" y="-125128"/>
            <a:ext cx="1469457" cy="1469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3CBE1F60-BE6B-4CB5-B422-F2F634E93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5368" y="4148488"/>
            <a:ext cx="5302253" cy="2609045"/>
          </a:xfrm>
          <a:prstGeom prst="rect">
            <a:avLst/>
          </a:prstGeom>
          <a:noFill/>
          <a:effectLst>
            <a:outerShdw blurRad="444500" dist="266700" dir="8460000" sx="96000" sy="96000" algn="ctr" rotWithShape="0">
              <a:schemeClr val="accent1">
                <a:lumMod val="40000"/>
                <a:lumOff val="60000"/>
                <a:alpha val="61000"/>
              </a:schemeClr>
            </a:outerShdw>
            <a:softEdge rad="254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48CA0D4-D897-4DD6-B5C6-D295904A8209}"/>
              </a:ext>
            </a:extLst>
          </p:cNvPr>
          <p:cNvSpPr txBox="1"/>
          <p:nvPr/>
        </p:nvSpPr>
        <p:spPr>
          <a:xfrm>
            <a:off x="144379" y="702245"/>
            <a:ext cx="7093819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Bahnschrift" panose="020B0502040204020203" pitchFamily="34" charset="0"/>
              </a:rPr>
              <a:t>Роли пользователей: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" panose="020B0502040204020203" pitchFamily="34" charset="0"/>
              </a:rPr>
              <a:t>Гость → только просмотр общей информации и «Айсберга фактов»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" panose="020B0502040204020203" pitchFamily="34" charset="0"/>
              </a:rPr>
              <a:t>Авторизованный пользователь → викторины, битвы, бесконечный режим, рейтинг, личный профиль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" panose="020B0502040204020203" pitchFamily="34" charset="0"/>
              </a:rPr>
              <a:t>Администратор → управление пользователями (блокировка), модерация жалоб, наполнение вопросов и фактов</a:t>
            </a:r>
          </a:p>
          <a:p>
            <a:r>
              <a:rPr lang="ru-RU" sz="2000" dirty="0">
                <a:latin typeface="Bahnschrift" panose="020B0502040204020203" pitchFamily="34" charset="0"/>
              </a:rPr>
              <a:t>Меры безопасности: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" panose="020B0502040204020203" pitchFamily="34" charset="0"/>
              </a:rPr>
              <a:t>Хэширование паролей (Werkzeug) — хранение только хэшей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" panose="020B0502040204020203" pitchFamily="34" charset="0"/>
              </a:rPr>
              <a:t>Защита сессий (Flask-Login, HTTPS в продакшне)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" panose="020B0502040204020203" pitchFamily="34" charset="0"/>
              </a:rPr>
              <a:t>Серверная валидация всех форм (CSRF-защита)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" panose="020B0502040204020203" pitchFamily="34" charset="0"/>
              </a:rPr>
              <a:t>Разграничение доступа на уровне маршрутов (декораторы @login_required, @admin_required)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" panose="020B0502040204020203" pitchFamily="34" charset="0"/>
              </a:rPr>
              <a:t>Санитизация пользовательского ввода (экранирование XSS)</a:t>
            </a:r>
          </a:p>
          <a:p>
            <a:r>
              <a:rPr lang="ru-RU" sz="2000" dirty="0">
                <a:latin typeface="Bahnschrift" panose="020B0502040204020203" pitchFamily="34" charset="0"/>
              </a:rPr>
              <a:t>Статус «заблокирован» → вход и любые действия запрещены.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6E14F85-E57F-41A2-BE39-52D2106F5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294" y="270921"/>
            <a:ext cx="7589411" cy="763500"/>
          </a:xfrm>
        </p:spPr>
        <p:txBody>
          <a:bodyPr/>
          <a:lstStyle/>
          <a:p>
            <a:r>
              <a:rPr lang="ru-RU" i="1" u="sng" dirty="0">
                <a:gradFill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690684"/>
                    </a:gs>
                    <a:gs pos="100000">
                      <a:srgbClr val="D864F8"/>
                    </a:gs>
                  </a:gsLst>
                  <a:lin ang="13500032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tka Subheading Semibold" pitchFamily="2" charset="0"/>
              </a:rPr>
              <a:t>Всем спасибо за внимание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9A24BA8-30E4-4A25-A042-3E80807E0C1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6101" y="1521139"/>
            <a:ext cx="4966635" cy="4310664"/>
          </a:xfrm>
          <a:prstGeom prst="rect">
            <a:avLst/>
          </a:prstGeom>
          <a:noFill/>
          <a:effectLst>
            <a:softEdge rad="139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755345"/>
      </p:ext>
    </p:extLst>
  </p:cSld>
  <p:clrMapOvr>
    <a:masterClrMapping/>
  </p:clrMapOvr>
</p:sld>
</file>

<file path=ppt/theme/theme1.xml><?xml version="1.0" encoding="utf-8"?>
<a:theme xmlns:a="http://schemas.openxmlformats.org/drawingml/2006/main" name="SlidesMania · Modern Dark ">
  <a:themeElements>
    <a:clrScheme name="Simple Light">
      <a:dk1>
        <a:srgbClr val="000000"/>
      </a:dk1>
      <a:lt1>
        <a:srgbClr val="E392FA"/>
      </a:lt1>
      <a:dk2>
        <a:srgbClr val="FFFFFF"/>
      </a:dk2>
      <a:lt2>
        <a:srgbClr val="EEEEEE"/>
      </a:lt2>
      <a:accent1>
        <a:srgbClr val="E392FA"/>
      </a:accent1>
      <a:accent2>
        <a:srgbClr val="93A9F9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657</Words>
  <Application>Microsoft Office PowerPoint</Application>
  <PresentationFormat>Широкоэкранный</PresentationFormat>
  <Paragraphs>92</Paragraphs>
  <Slides>10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20" baseType="lpstr">
      <vt:lpstr>Bahnschrift</vt:lpstr>
      <vt:lpstr>Sitka Subheading Semibold</vt:lpstr>
      <vt:lpstr>Barlow Condensed</vt:lpstr>
      <vt:lpstr>Calibri</vt:lpstr>
      <vt:lpstr>Arial</vt:lpstr>
      <vt:lpstr>Abril Fatface</vt:lpstr>
      <vt:lpstr>DM Sans</vt:lpstr>
      <vt:lpstr>Wingdings</vt:lpstr>
      <vt:lpstr>Aldrich</vt:lpstr>
      <vt:lpstr>SlidesMania · Modern Dark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Дальнейшие планы развития</vt:lpstr>
      <vt:lpstr>Презентация PowerPoint</vt:lpstr>
      <vt:lpstr>Презентация PowerPoint</vt:lpstr>
      <vt:lpstr>Система ролей и безопасность</vt:lpstr>
      <vt:lpstr>Всем 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Sunshine</dc:creator>
  <cp:lastModifiedBy>Sunshine</cp:lastModifiedBy>
  <cp:revision>19</cp:revision>
  <dcterms:modified xsi:type="dcterms:W3CDTF">2026-05-17T10:03:09Z</dcterms:modified>
</cp:coreProperties>
</file>